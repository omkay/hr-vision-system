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7498080" y="731520"/>
            <a:ext cx="2286000" cy="2286000"/>
          </a:xfrm>
          <a:prstGeom prst="ellipse">
            <a:avLst/>
          </a:prstGeom>
          <a:solidFill>
            <a:srgbClr val="2C3E6B">
              <a:alpha val="60000"/>
            </a:srgbClr>
          </a:solidFill>
          <a:ln/>
        </p:spPr>
      </p:sp>
      <p:sp>
        <p:nvSpPr>
          <p:cNvPr id="4" name="Shape 2"/>
          <p:cNvSpPr/>
          <p:nvPr/>
        </p:nvSpPr>
        <p:spPr>
          <a:xfrm>
            <a:off x="8046720" y="1280160"/>
            <a:ext cx="1645920" cy="1645920"/>
          </a:xfrm>
          <a:prstGeom prst="ellipse">
            <a:avLst/>
          </a:prstGeom>
          <a:solidFill>
            <a:srgbClr val="3B6CB4">
              <a:alpha val="50000"/>
            </a:srgbClr>
          </a:solidFill>
          <a:ln/>
        </p:spPr>
      </p:sp>
      <p:pic>
        <p:nvPicPr>
          <p:cNvPr id="5" name="Image 0" descr="preencoded.png">    </p:cNvPr>
          <p:cNvPicPr>
            <a:picLocks noChangeAspect="1"/>
          </p:cNvPicPr>
          <p:nvPr/>
        </p:nvPicPr>
        <p:blipFill>
          <a:blip r:embed="rId1"/>
          <a:stretch>
            <a:fillRect/>
          </a:stretch>
        </p:blipFill>
        <p:spPr>
          <a:xfrm>
            <a:off x="8229600" y="1005840"/>
            <a:ext cx="640080" cy="640080"/>
          </a:xfrm>
          <a:prstGeom prst="rect">
            <a:avLst/>
          </a:prstGeom>
        </p:spPr>
      </p:pic>
      <p:pic>
        <p:nvPicPr>
          <p:cNvPr id="6" name="Image 1" descr="preencoded.png">    </p:cNvPr>
          <p:cNvPicPr>
            <a:picLocks noChangeAspect="1"/>
          </p:cNvPicPr>
          <p:nvPr/>
        </p:nvPicPr>
        <p:blipFill>
          <a:blip r:embed="rId2"/>
          <a:stretch>
            <a:fillRect/>
          </a:stretch>
        </p:blipFill>
        <p:spPr>
          <a:xfrm>
            <a:off x="7772400" y="1645920"/>
            <a:ext cx="457200" cy="457200"/>
          </a:xfrm>
          <a:prstGeom prst="rect">
            <a:avLst/>
          </a:prstGeom>
        </p:spPr>
      </p:pic>
      <p:pic>
        <p:nvPicPr>
          <p:cNvPr id="7" name="Image 2" descr="preencoded.png">    </p:cNvPr>
          <p:cNvPicPr>
            <a:picLocks noChangeAspect="1"/>
          </p:cNvPicPr>
          <p:nvPr/>
        </p:nvPicPr>
        <p:blipFill>
          <a:blip r:embed="rId3"/>
          <a:stretch>
            <a:fillRect/>
          </a:stretch>
        </p:blipFill>
        <p:spPr>
          <a:xfrm>
            <a:off x="8412480" y="1920240"/>
            <a:ext cx="457200" cy="457200"/>
          </a:xfrm>
          <a:prstGeom prst="rect">
            <a:avLst/>
          </a:prstGeom>
        </p:spPr>
      </p:pic>
      <p:sp>
        <p:nvSpPr>
          <p:cNvPr id="8" name="Text 3"/>
          <p:cNvSpPr/>
          <p:nvPr/>
        </p:nvSpPr>
        <p:spPr>
          <a:xfrm>
            <a:off x="457200" y="365760"/>
            <a:ext cx="8229600" cy="457200"/>
          </a:xfrm>
          <a:prstGeom prst="rect">
            <a:avLst/>
          </a:prstGeom>
          <a:noFill/>
          <a:ln/>
        </p:spPr>
        <p:txBody>
          <a:bodyPr wrap="square" rtlCol="0" anchor="ctr"/>
          <a:lstStyle/>
          <a:p>
            <a:pPr rtl="1" algn="r" indent="0" marL="0">
              <a:buNone/>
            </a:pPr>
            <a:r>
              <a:rPr lang="ar-SA" altLang="en-US" sz="1300" dirty="0">
                <a:solidFill>
                  <a:srgbClr val="6B9FD4"/>
                </a:solidFill>
                <a:latin typeface="Calibri" pitchFamily="34" charset="0"/>
                <a:ea typeface="Calibri" pitchFamily="34" charset="-122"/>
                <a:cs typeface="Calibri" pitchFamily="34" charset="-120"/>
              </a:rPr>
              <a:t>جامعة دمشق  |  كلية الهندسة المعلوماتية</a:t>
            </a:r>
            <a:endParaRPr lang="ar-SA" sz="1300" dirty="0"/>
          </a:p>
        </p:txBody>
      </p:sp>
      <p:sp>
        <p:nvSpPr>
          <p:cNvPr id="9" name="Text 4"/>
          <p:cNvSpPr/>
          <p:nvPr/>
        </p:nvSpPr>
        <p:spPr>
          <a:xfrm>
            <a:off x="731520" y="1371600"/>
            <a:ext cx="6858000" cy="1280160"/>
          </a:xfrm>
          <a:prstGeom prst="rect">
            <a:avLst/>
          </a:prstGeom>
          <a:noFill/>
          <a:ln/>
        </p:spPr>
        <p:txBody>
          <a:bodyPr wrap="square" lIns="0" tIns="0" rIns="0" bIns="0" rtlCol="0" anchor="ctr"/>
          <a:lstStyle/>
          <a:p>
            <a:pPr rtl="1" algn="r" indent="0" marL="0">
              <a:buNone/>
            </a:pPr>
            <a:r>
              <a:rPr lang="ar-SA" altLang="en-US" sz="4200" b="1" dirty="0">
                <a:solidFill>
                  <a:srgbClr val="FFFFFF"/>
                </a:solidFill>
                <a:latin typeface="Georgia" pitchFamily="34" charset="0"/>
                <a:ea typeface="Georgia" pitchFamily="34" charset="-122"/>
                <a:cs typeface="Georgia" pitchFamily="34" charset="-120"/>
              </a:rPr>
              <a:t>نظام مراقبة الموظفين</a:t>
            </a:r>
            <a:endParaRPr lang="ar-SA" sz="4200" dirty="0"/>
          </a:p>
        </p:txBody>
      </p:sp>
      <p:sp>
        <p:nvSpPr>
          <p:cNvPr id="10" name="Text 5"/>
          <p:cNvSpPr/>
          <p:nvPr/>
        </p:nvSpPr>
        <p:spPr>
          <a:xfrm>
            <a:off x="731520" y="2651760"/>
            <a:ext cx="6858000" cy="640080"/>
          </a:xfrm>
          <a:prstGeom prst="rect">
            <a:avLst/>
          </a:prstGeom>
          <a:noFill/>
          <a:ln/>
        </p:spPr>
        <p:txBody>
          <a:bodyPr wrap="square" rtlCol="0" anchor="ctr"/>
          <a:lstStyle/>
          <a:p>
            <a:pPr rtl="1" algn="r" indent="0" marL="0">
              <a:buNone/>
            </a:pPr>
            <a:r>
              <a:rPr lang="ar-SA" altLang="en-US" sz="1800" dirty="0">
                <a:solidFill>
                  <a:srgbClr val="6B9FD4"/>
                </a:solidFill>
                <a:latin typeface="Calibri" pitchFamily="34" charset="0"/>
                <a:ea typeface="Calibri" pitchFamily="34" charset="-122"/>
                <a:cs typeface="Calibri" pitchFamily="34" charset="-120"/>
              </a:rPr>
              <a:t>تسجيل الحضور بالتعرف على الوجه وتتبع نشاطات الموظفين</a:t>
            </a:r>
            <a:endParaRPr lang="ar-SA" sz="1800" dirty="0"/>
          </a:p>
        </p:txBody>
      </p:sp>
      <p:sp>
        <p:nvSpPr>
          <p:cNvPr id="11" name="Shape 6"/>
          <p:cNvSpPr/>
          <p:nvPr/>
        </p:nvSpPr>
        <p:spPr>
          <a:xfrm>
            <a:off x="4846320" y="3474720"/>
            <a:ext cx="2743200" cy="36576"/>
          </a:xfrm>
          <a:prstGeom prst="rect">
            <a:avLst/>
          </a:prstGeom>
          <a:solidFill>
            <a:srgbClr val="0EA5E9"/>
          </a:solidFill>
          <a:ln/>
        </p:spPr>
      </p:sp>
      <p:sp>
        <p:nvSpPr>
          <p:cNvPr id="12" name="Text 7"/>
          <p:cNvSpPr/>
          <p:nvPr/>
        </p:nvSpPr>
        <p:spPr>
          <a:xfrm>
            <a:off x="731520" y="3749040"/>
            <a:ext cx="6858000" cy="548640"/>
          </a:xfrm>
          <a:prstGeom prst="rect">
            <a:avLst/>
          </a:prstGeom>
          <a:noFill/>
          <a:ln/>
        </p:spPr>
        <p:txBody>
          <a:bodyPr wrap="square" rtlCol="0" anchor="ctr"/>
          <a:lstStyle/>
          <a:p>
            <a:pPr rtl="1" algn="r" indent="0" marL="0">
              <a:buNone/>
            </a:pPr>
            <a:r>
              <a:rPr lang="ar-SA" altLang="en-US" sz="1300" dirty="0">
                <a:solidFill>
                  <a:srgbClr val="94A3B8"/>
                </a:solidFill>
                <a:latin typeface="Calibri" pitchFamily="34" charset="0"/>
                <a:ea typeface="Calibri" pitchFamily="34" charset="-122"/>
                <a:cs typeface="Calibri" pitchFamily="34" charset="-120"/>
              </a:rPr>
              <a:t>سميرة غنام  •  حسن العويدات  •  عمر الخيرات  •  مجد غطاس</a:t>
            </a:r>
            <a:endParaRPr lang="ar-SA" sz="1300" dirty="0"/>
          </a:p>
        </p:txBody>
      </p:sp>
      <p:sp>
        <p:nvSpPr>
          <p:cNvPr id="13" name="Shape 8"/>
          <p:cNvSpPr/>
          <p:nvPr/>
        </p:nvSpPr>
        <p:spPr>
          <a:xfrm>
            <a:off x="0" y="4892040"/>
            <a:ext cx="9144000" cy="256032"/>
          </a:xfrm>
          <a:prstGeom prst="rect">
            <a:avLst/>
          </a:prstGeom>
          <a:solidFill>
            <a:srgbClr val="2C3E6B"/>
          </a:solidFill>
          <a:ln/>
        </p:spPr>
      </p:sp>
      <p:sp>
        <p:nvSpPr>
          <p:cNvPr id="14" name="Text 9"/>
          <p:cNvSpPr/>
          <p:nvPr/>
        </p:nvSpPr>
        <p:spPr>
          <a:xfrm>
            <a:off x="457200" y="4892040"/>
            <a:ext cx="1371600" cy="256032"/>
          </a:xfrm>
          <a:prstGeom prst="rect">
            <a:avLst/>
          </a:prstGeom>
          <a:noFill/>
          <a:ln/>
        </p:spPr>
        <p:txBody>
          <a:bodyPr wrap="square" rtlCol="0" anchor="ctr"/>
          <a:lstStyle/>
          <a:p>
            <a:pPr algn="l" indent="0" marL="0">
              <a:buNone/>
            </a:pPr>
            <a:r>
              <a:rPr lang="en-US" sz="1100" dirty="0">
                <a:solidFill>
                  <a:srgbClr val="6B9FD4"/>
                </a:solidFill>
                <a:latin typeface="Calibri" pitchFamily="34" charset="0"/>
                <a:ea typeface="Calibri" pitchFamily="34" charset="-122"/>
                <a:cs typeface="Calibri" pitchFamily="34" charset="-120"/>
              </a:rPr>
              <a:t>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731520"/>
          </a:xfrm>
          <a:prstGeom prst="rect">
            <a:avLst/>
          </a:prstGeom>
          <a:noFill/>
          <a:ln/>
        </p:spPr>
        <p:txBody>
          <a:bodyPr wrap="square" lIns="0" tIns="0" rIns="0" bIns="0" rtlCol="0" anchor="ctr"/>
          <a:lstStyle/>
          <a:p>
            <a:pPr rtl="1" algn="r" indent="0" marL="0">
              <a:buNone/>
            </a:pPr>
            <a:r>
              <a:rPr lang="ar-SA" altLang="en-US" sz="3600" b="1" dirty="0">
                <a:solidFill>
                  <a:srgbClr val="1A2332"/>
                </a:solidFill>
                <a:latin typeface="Georgia" pitchFamily="34" charset="0"/>
                <a:ea typeface="Georgia" pitchFamily="34" charset="-122"/>
                <a:cs typeface="Georgia" pitchFamily="34" charset="-120"/>
              </a:rPr>
              <a:t>المقدمة</a:t>
            </a:r>
            <a:endParaRPr lang="ar-SA" sz="3600" dirty="0"/>
          </a:p>
        </p:txBody>
      </p:sp>
      <p:sp>
        <p:nvSpPr>
          <p:cNvPr id="5" name="Shape 3"/>
          <p:cNvSpPr/>
          <p:nvPr/>
        </p:nvSpPr>
        <p:spPr>
          <a:xfrm>
            <a:off x="457200" y="1097280"/>
            <a:ext cx="8229600" cy="36576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6" name="Shape 4"/>
          <p:cNvSpPr/>
          <p:nvPr/>
        </p:nvSpPr>
        <p:spPr>
          <a:xfrm>
            <a:off x="7863840" y="1280160"/>
            <a:ext cx="594360" cy="594360"/>
          </a:xfrm>
          <a:prstGeom prst="ellipse">
            <a:avLst/>
          </a:prstGeom>
          <a:solidFill>
            <a:srgbClr val="3B6CB4"/>
          </a:solidFill>
          <a:ln/>
        </p:spPr>
      </p:sp>
      <p:pic>
        <p:nvPicPr>
          <p:cNvPr id="7" name="Image 0" descr="preencoded.png">    </p:cNvPr>
          <p:cNvPicPr>
            <a:picLocks noChangeAspect="1"/>
          </p:cNvPicPr>
          <p:nvPr/>
        </p:nvPicPr>
        <p:blipFill>
          <a:blip r:embed="rId1"/>
          <a:stretch>
            <a:fillRect/>
          </a:stretch>
        </p:blipFill>
        <p:spPr>
          <a:xfrm>
            <a:off x="7973568" y="1389888"/>
            <a:ext cx="365760" cy="365760"/>
          </a:xfrm>
          <a:prstGeom prst="rect">
            <a:avLst/>
          </a:prstGeom>
        </p:spPr>
      </p:pic>
      <p:sp>
        <p:nvSpPr>
          <p:cNvPr id="8" name="Text 5"/>
          <p:cNvSpPr/>
          <p:nvPr/>
        </p:nvSpPr>
        <p:spPr>
          <a:xfrm>
            <a:off x="914400" y="1280160"/>
            <a:ext cx="6675120" cy="3291840"/>
          </a:xfrm>
          <a:prstGeom prst="rect">
            <a:avLst/>
          </a:prstGeom>
          <a:noFill/>
          <a:ln/>
        </p:spPr>
        <p:txBody>
          <a:bodyPr wrap="square" rtlCol="0" anchor="ctr"/>
          <a:lstStyle/>
          <a:p>
            <a:pPr algn="r" indent="0" marL="0">
              <a:lnSpc>
                <a:spcPct val="125000"/>
              </a:lnSpc>
              <a:spcAft>
                <a:spcPts val="1000"/>
              </a:spcAft>
              <a:buNone/>
            </a:pPr>
            <a:r>
              <a:rPr lang="ar-SA" altLang="en-US" sz="1350" dirty="0">
                <a:solidFill>
                  <a:srgbClr val="334155"/>
                </a:solidFill>
                <a:latin typeface="Calibri" pitchFamily="34" charset="0"/>
                <a:ea typeface="Calibri" pitchFamily="34" charset="-122"/>
                <a:cs typeface="Calibri" pitchFamily="34" charset="-120"/>
              </a:rPr>
              <a:t>في ظل التطور المتسارع في بيئات العمل الحديثة، أصبحت المؤسسات بحاجة إلى أنظمة ذكية تضمن ليس فقط تسجيل حضور الموظفين، بل أيضاً متابعة التزامهم الفعلي ضمن أماكن عملهم.</a:t>
            </a:r>
            <a:endParaRPr lang="ar-SA" sz="1350" dirty="0"/>
          </a:p>
          <a:p>
            <a:pPr algn="r" indent="0" marL="0">
              <a:lnSpc>
                <a:spcPct val="125000"/>
              </a:lnSpc>
              <a:spcAft>
                <a:spcPts val="1000"/>
              </a:spcAft>
              <a:buNone/>
            </a:pPr>
            <a:r>
              <a:rPr lang="ar-SA" altLang="en-US" sz="1350" dirty="0">
                <a:solidFill>
                  <a:srgbClr val="334155"/>
                </a:solidFill>
                <a:latin typeface="Calibri" pitchFamily="34" charset="0"/>
                <a:ea typeface="Calibri" pitchFamily="34" charset="-122"/>
                <a:cs typeface="Calibri" pitchFamily="34" charset="-120"/>
              </a:rPr>
              <a:t>الاعتماد على الطرق التقليدية في تسجيل الحضور والانصراف لم يعد كافياً لضمان دقة المتابعة أو منع حالات التلاعب.</a:t>
            </a:r>
            <a:endParaRPr lang="ar-SA" sz="1350" dirty="0"/>
          </a:p>
          <a:p>
            <a:pPr algn="r" indent="0" marL="0">
              <a:lnSpc>
                <a:spcPct val="125000"/>
              </a:lnSpc>
              <a:spcAft>
                <a:spcPts val="1000"/>
              </a:spcAft>
              <a:buNone/>
            </a:pPr>
            <a:r>
              <a:rPr lang="ar-SA" altLang="en-US" sz="1350" dirty="0">
                <a:solidFill>
                  <a:srgbClr val="334155"/>
                </a:solidFill>
                <a:latin typeface="Calibri" pitchFamily="34" charset="0"/>
                <a:ea typeface="Calibri" pitchFamily="34" charset="-122"/>
                <a:cs typeface="Calibri" pitchFamily="34" charset="-120"/>
              </a:rPr>
              <a:t>ينطلق هذا المشروع من فكرة تطوير نظام ذكي لمراقبة وتتبع حركة الموظفين داخل بيئة العمل باستخدام تقنيات رؤية الحاسوب والذكاء الاصطناعي، حيث يهدف إلى تحليل تواجد الموظفين داخل المكاتب وربط ذلك بسجلات الحضور.</a:t>
            </a:r>
            <a:endParaRPr lang="ar-SA" sz="1350" dirty="0"/>
          </a:p>
          <a:p>
            <a:pPr algn="r" indent="0" marL="0">
              <a:lnSpc>
                <a:spcPct val="125000"/>
              </a:lnSpc>
              <a:buNone/>
            </a:pPr>
            <a:r>
              <a:rPr lang="ar-SA" altLang="en-US" sz="1350" dirty="0">
                <a:solidFill>
                  <a:srgbClr val="334155"/>
                </a:solidFill>
                <a:latin typeface="Calibri" pitchFamily="34" charset="0"/>
                <a:ea typeface="Calibri" pitchFamily="34" charset="-122"/>
                <a:cs typeface="Calibri" pitchFamily="34" charset="-120"/>
              </a:rPr>
              <a:t>كما يسعى النظام إلى الكشف عن الحالات غير الطبيعية مثل التواجد غير المصرح به أو غياب الموظف عن موقعه، مع توفير تنبيهات تساعد الإدارة على اتخاذ قرارات دقيقة وفورية.</a:t>
            </a:r>
            <a:endParaRPr lang="ar-SA" sz="1350" dirty="0"/>
          </a:p>
        </p:txBody>
      </p:sp>
      <p:sp>
        <p:nvSpPr>
          <p:cNvPr id="9" name="Shape 6"/>
          <p:cNvSpPr/>
          <p:nvPr/>
        </p:nvSpPr>
        <p:spPr>
          <a:xfrm>
            <a:off x="0" y="4892040"/>
            <a:ext cx="9144000" cy="256032"/>
          </a:xfrm>
          <a:prstGeom prst="rect">
            <a:avLst/>
          </a:prstGeom>
          <a:solidFill>
            <a:srgbClr val="1A2332"/>
          </a:solidFill>
          <a:ln/>
        </p:spPr>
      </p:sp>
      <p:sp>
        <p:nvSpPr>
          <p:cNvPr id="10" name="Text 7"/>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731520"/>
          </a:xfrm>
          <a:prstGeom prst="rect">
            <a:avLst/>
          </a:prstGeom>
          <a:noFill/>
          <a:ln/>
        </p:spPr>
        <p:txBody>
          <a:bodyPr wrap="square" lIns="0" tIns="0" rIns="0" bIns="0" rtlCol="0" anchor="ctr"/>
          <a:lstStyle/>
          <a:p>
            <a:pPr rtl="1" algn="r" indent="0" marL="0">
              <a:buNone/>
            </a:pPr>
            <a:r>
              <a:rPr lang="ar-SA" altLang="en-US" sz="3600" b="1" dirty="0">
                <a:solidFill>
                  <a:srgbClr val="1A2332"/>
                </a:solidFill>
                <a:latin typeface="Georgia" pitchFamily="34" charset="0"/>
                <a:ea typeface="Georgia" pitchFamily="34" charset="-122"/>
                <a:cs typeface="Georgia" pitchFamily="34" charset="-120"/>
              </a:rPr>
              <a:t>هدف المشروع</a:t>
            </a:r>
            <a:endParaRPr lang="ar-SA" sz="3600" dirty="0"/>
          </a:p>
        </p:txBody>
      </p:sp>
      <p:sp>
        <p:nvSpPr>
          <p:cNvPr id="5" name="Shape 3"/>
          <p:cNvSpPr/>
          <p:nvPr/>
        </p:nvSpPr>
        <p:spPr>
          <a:xfrm>
            <a:off x="457200" y="1097280"/>
            <a:ext cx="8229600" cy="822960"/>
          </a:xfrm>
          <a:prstGeom prst="rect">
            <a:avLst/>
          </a:prstGeom>
          <a:solidFill>
            <a:srgbClr val="D6E5F3">
              <a:alpha val="70000"/>
            </a:srgbClr>
          </a:solidFill>
          <a:ln/>
        </p:spPr>
      </p:sp>
      <p:sp>
        <p:nvSpPr>
          <p:cNvPr id="6" name="Text 4"/>
          <p:cNvSpPr/>
          <p:nvPr/>
        </p:nvSpPr>
        <p:spPr>
          <a:xfrm>
            <a:off x="731520" y="1143000"/>
            <a:ext cx="7680960" cy="731520"/>
          </a:xfrm>
          <a:prstGeom prst="rect">
            <a:avLst/>
          </a:prstGeom>
          <a:noFill/>
          <a:ln/>
        </p:spPr>
        <p:txBody>
          <a:bodyPr wrap="square" rtlCol="0" anchor="ctr"/>
          <a:lstStyle/>
          <a:p>
            <a:pPr rtl="1" algn="r" indent="0" marL="0">
              <a:buNone/>
            </a:pPr>
            <a:r>
              <a:rPr lang="ar-SA" altLang="en-US" sz="1400" b="1" dirty="0">
                <a:solidFill>
                  <a:srgbClr val="1A2332"/>
                </a:solidFill>
                <a:latin typeface="Calibri" pitchFamily="34" charset="0"/>
                <a:ea typeface="Calibri" pitchFamily="34" charset="-122"/>
                <a:cs typeface="Calibri" pitchFamily="34" charset="-120"/>
              </a:rPr>
              <a:t>تصميم وتنفيذ نظام ذكي لمراقبة وتتبع حركة الموظفين داخل بيئة العمل، يضمن التحقق من الحضور الفعلي وربطه بسجلات الحضور الرسمية.</a:t>
            </a:r>
            <a:endParaRPr lang="ar-SA" sz="1400" dirty="0"/>
          </a:p>
        </p:txBody>
      </p:sp>
      <p:sp>
        <p:nvSpPr>
          <p:cNvPr id="7" name="Shape 5"/>
          <p:cNvSpPr/>
          <p:nvPr/>
        </p:nvSpPr>
        <p:spPr>
          <a:xfrm>
            <a:off x="4572000" y="2103120"/>
            <a:ext cx="3840480" cy="123444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8" name="Shape 6"/>
          <p:cNvSpPr/>
          <p:nvPr/>
        </p:nvSpPr>
        <p:spPr>
          <a:xfrm>
            <a:off x="8357616" y="2103120"/>
            <a:ext cx="54864" cy="1234440"/>
          </a:xfrm>
          <a:prstGeom prst="rect">
            <a:avLst/>
          </a:prstGeom>
          <a:solidFill>
            <a:srgbClr val="3B6CB4"/>
          </a:solidFill>
          <a:ln/>
        </p:spPr>
      </p:sp>
      <p:pic>
        <p:nvPicPr>
          <p:cNvPr id="9" name="Image 0" descr="preencoded.png">    </p:cNvPr>
          <p:cNvPicPr>
            <a:picLocks noChangeAspect="1"/>
          </p:cNvPicPr>
          <p:nvPr/>
        </p:nvPicPr>
        <p:blipFill>
          <a:blip r:embed="rId1"/>
          <a:stretch>
            <a:fillRect/>
          </a:stretch>
        </p:blipFill>
        <p:spPr>
          <a:xfrm>
            <a:off x="7772400" y="2286000"/>
            <a:ext cx="320040" cy="320040"/>
          </a:xfrm>
          <a:prstGeom prst="rect">
            <a:avLst/>
          </a:prstGeom>
        </p:spPr>
      </p:pic>
      <p:sp>
        <p:nvSpPr>
          <p:cNvPr id="10" name="Text 7"/>
          <p:cNvSpPr/>
          <p:nvPr/>
        </p:nvSpPr>
        <p:spPr>
          <a:xfrm>
            <a:off x="4754880" y="2240280"/>
            <a:ext cx="2926080" cy="320040"/>
          </a:xfrm>
          <a:prstGeom prst="rect">
            <a:avLst/>
          </a:prstGeom>
          <a:noFill/>
          <a:ln/>
        </p:spPr>
        <p:txBody>
          <a:bodyPr wrap="square" lIns="0" tIns="0" rIns="0" bIns="0" rtlCol="0" anchor="ctr"/>
          <a:lstStyle/>
          <a:p>
            <a:pPr rtl="1" algn="r" indent="0" marL="0">
              <a:buNone/>
            </a:pPr>
            <a:r>
              <a:rPr lang="ar-SA" altLang="en-US" sz="1400" b="1" dirty="0">
                <a:solidFill>
                  <a:srgbClr val="1A2332"/>
                </a:solidFill>
                <a:latin typeface="Calibri" pitchFamily="34" charset="0"/>
                <a:ea typeface="Calibri" pitchFamily="34" charset="-122"/>
                <a:cs typeface="Calibri" pitchFamily="34" charset="-120"/>
              </a:rPr>
              <a:t>تسجيل حضور دقيق</a:t>
            </a:r>
            <a:endParaRPr lang="ar-SA" sz="1400" dirty="0"/>
          </a:p>
        </p:txBody>
      </p:sp>
      <p:sp>
        <p:nvSpPr>
          <p:cNvPr id="11" name="Text 8"/>
          <p:cNvSpPr/>
          <p:nvPr/>
        </p:nvSpPr>
        <p:spPr>
          <a:xfrm>
            <a:off x="4754880" y="2606040"/>
            <a:ext cx="3383280" cy="5943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تسجيل حضور الموظفين بدقة باستخدام تقنيات التعرف على الوجه</a:t>
            </a:r>
            <a:endParaRPr lang="ar-SA" sz="1100" dirty="0"/>
          </a:p>
        </p:txBody>
      </p:sp>
      <p:sp>
        <p:nvSpPr>
          <p:cNvPr id="12" name="Shape 9"/>
          <p:cNvSpPr/>
          <p:nvPr/>
        </p:nvSpPr>
        <p:spPr>
          <a:xfrm>
            <a:off x="457200" y="2103120"/>
            <a:ext cx="3840480" cy="123444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0"/>
          <p:cNvSpPr/>
          <p:nvPr/>
        </p:nvSpPr>
        <p:spPr>
          <a:xfrm>
            <a:off x="4242816" y="2103120"/>
            <a:ext cx="54864" cy="1234440"/>
          </a:xfrm>
          <a:prstGeom prst="rect">
            <a:avLst/>
          </a:prstGeom>
          <a:solidFill>
            <a:srgbClr val="3B6CB4"/>
          </a:solidFill>
          <a:ln/>
        </p:spPr>
      </p:sp>
      <p:pic>
        <p:nvPicPr>
          <p:cNvPr id="14" name="Image 1" descr="preencoded.png">    </p:cNvPr>
          <p:cNvPicPr>
            <a:picLocks noChangeAspect="1"/>
          </p:cNvPicPr>
          <p:nvPr/>
        </p:nvPicPr>
        <p:blipFill>
          <a:blip r:embed="rId2"/>
          <a:stretch>
            <a:fillRect/>
          </a:stretch>
        </p:blipFill>
        <p:spPr>
          <a:xfrm>
            <a:off x="3657600" y="2286000"/>
            <a:ext cx="320040" cy="320040"/>
          </a:xfrm>
          <a:prstGeom prst="rect">
            <a:avLst/>
          </a:prstGeom>
        </p:spPr>
      </p:pic>
      <p:sp>
        <p:nvSpPr>
          <p:cNvPr id="15" name="Text 11"/>
          <p:cNvSpPr/>
          <p:nvPr/>
        </p:nvSpPr>
        <p:spPr>
          <a:xfrm>
            <a:off x="640080" y="2240280"/>
            <a:ext cx="2926080" cy="320040"/>
          </a:xfrm>
          <a:prstGeom prst="rect">
            <a:avLst/>
          </a:prstGeom>
          <a:noFill/>
          <a:ln/>
        </p:spPr>
        <p:txBody>
          <a:bodyPr wrap="square" lIns="0" tIns="0" rIns="0" bIns="0" rtlCol="0" anchor="ctr"/>
          <a:lstStyle/>
          <a:p>
            <a:pPr rtl="1" algn="r" indent="0" marL="0">
              <a:buNone/>
            </a:pPr>
            <a:r>
              <a:rPr lang="ar-SA" altLang="en-US" sz="1400" b="1" dirty="0">
                <a:solidFill>
                  <a:srgbClr val="1A2332"/>
                </a:solidFill>
                <a:latin typeface="Calibri" pitchFamily="34" charset="0"/>
                <a:ea typeface="Calibri" pitchFamily="34" charset="-122"/>
                <a:cs typeface="Calibri" pitchFamily="34" charset="-120"/>
              </a:rPr>
              <a:t>تتبع الحركة</a:t>
            </a:r>
            <a:endParaRPr lang="ar-SA" sz="1400" dirty="0"/>
          </a:p>
        </p:txBody>
      </p:sp>
      <p:sp>
        <p:nvSpPr>
          <p:cNvPr id="16" name="Text 12"/>
          <p:cNvSpPr/>
          <p:nvPr/>
        </p:nvSpPr>
        <p:spPr>
          <a:xfrm>
            <a:off x="640080" y="2606040"/>
            <a:ext cx="3383280" cy="5943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تتبع حركة الموظفين داخل المكتب لضمان التزامهم بأماكن عملهم المحددة</a:t>
            </a:r>
            <a:endParaRPr lang="ar-SA" sz="1100" dirty="0"/>
          </a:p>
        </p:txBody>
      </p:sp>
      <p:sp>
        <p:nvSpPr>
          <p:cNvPr id="17" name="Shape 13"/>
          <p:cNvSpPr/>
          <p:nvPr/>
        </p:nvSpPr>
        <p:spPr>
          <a:xfrm>
            <a:off x="4572000" y="3474720"/>
            <a:ext cx="3840480" cy="123444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8" name="Shape 14"/>
          <p:cNvSpPr/>
          <p:nvPr/>
        </p:nvSpPr>
        <p:spPr>
          <a:xfrm>
            <a:off x="8357616" y="3474720"/>
            <a:ext cx="54864" cy="1234440"/>
          </a:xfrm>
          <a:prstGeom prst="rect">
            <a:avLst/>
          </a:prstGeom>
          <a:solidFill>
            <a:srgbClr val="3B6CB4"/>
          </a:solidFill>
          <a:ln/>
        </p:spPr>
      </p:sp>
      <p:pic>
        <p:nvPicPr>
          <p:cNvPr id="19" name="Image 2" descr="preencoded.png">    </p:cNvPr>
          <p:cNvPicPr>
            <a:picLocks noChangeAspect="1"/>
          </p:cNvPicPr>
          <p:nvPr/>
        </p:nvPicPr>
        <p:blipFill>
          <a:blip r:embed="rId3"/>
          <a:stretch>
            <a:fillRect/>
          </a:stretch>
        </p:blipFill>
        <p:spPr>
          <a:xfrm>
            <a:off x="7772400" y="3657600"/>
            <a:ext cx="320040" cy="320040"/>
          </a:xfrm>
          <a:prstGeom prst="rect">
            <a:avLst/>
          </a:prstGeom>
        </p:spPr>
      </p:pic>
      <p:sp>
        <p:nvSpPr>
          <p:cNvPr id="20" name="Text 15"/>
          <p:cNvSpPr/>
          <p:nvPr/>
        </p:nvSpPr>
        <p:spPr>
          <a:xfrm>
            <a:off x="4754880" y="3611880"/>
            <a:ext cx="2926080" cy="320040"/>
          </a:xfrm>
          <a:prstGeom prst="rect">
            <a:avLst/>
          </a:prstGeom>
          <a:noFill/>
          <a:ln/>
        </p:spPr>
        <p:txBody>
          <a:bodyPr wrap="square" lIns="0" tIns="0" rIns="0" bIns="0" rtlCol="0" anchor="ctr"/>
          <a:lstStyle/>
          <a:p>
            <a:pPr rtl="1" algn="r" indent="0" marL="0">
              <a:buNone/>
            </a:pPr>
            <a:r>
              <a:rPr lang="ar-SA" altLang="en-US" sz="1400" b="1" dirty="0">
                <a:solidFill>
                  <a:srgbClr val="1A2332"/>
                </a:solidFill>
                <a:latin typeface="Calibri" pitchFamily="34" charset="0"/>
                <a:ea typeface="Calibri" pitchFamily="34" charset="-122"/>
                <a:cs typeface="Calibri" pitchFamily="34" charset="-120"/>
              </a:rPr>
              <a:t>كشف الحالات الشاذة</a:t>
            </a:r>
            <a:endParaRPr lang="ar-SA" sz="1400" dirty="0"/>
          </a:p>
        </p:txBody>
      </p:sp>
      <p:sp>
        <p:nvSpPr>
          <p:cNvPr id="21" name="Text 16"/>
          <p:cNvSpPr/>
          <p:nvPr/>
        </p:nvSpPr>
        <p:spPr>
          <a:xfrm>
            <a:off x="4754880" y="3977640"/>
            <a:ext cx="3383280" cy="5943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كشف التواجد غير المصرح به أو غياب الموظف عن موقعه</a:t>
            </a:r>
            <a:endParaRPr lang="ar-SA" sz="1100" dirty="0"/>
          </a:p>
        </p:txBody>
      </p:sp>
      <p:sp>
        <p:nvSpPr>
          <p:cNvPr id="22" name="Shape 17"/>
          <p:cNvSpPr/>
          <p:nvPr/>
        </p:nvSpPr>
        <p:spPr>
          <a:xfrm>
            <a:off x="457200" y="3474720"/>
            <a:ext cx="3840480" cy="123444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23" name="Shape 18"/>
          <p:cNvSpPr/>
          <p:nvPr/>
        </p:nvSpPr>
        <p:spPr>
          <a:xfrm>
            <a:off x="4242816" y="3474720"/>
            <a:ext cx="54864" cy="1234440"/>
          </a:xfrm>
          <a:prstGeom prst="rect">
            <a:avLst/>
          </a:prstGeom>
          <a:solidFill>
            <a:srgbClr val="3B6CB4"/>
          </a:solidFill>
          <a:ln/>
        </p:spPr>
      </p:sp>
      <p:pic>
        <p:nvPicPr>
          <p:cNvPr id="24" name="Image 3" descr="preencoded.png">    </p:cNvPr>
          <p:cNvPicPr>
            <a:picLocks noChangeAspect="1"/>
          </p:cNvPicPr>
          <p:nvPr/>
        </p:nvPicPr>
        <p:blipFill>
          <a:blip r:embed="rId4"/>
          <a:stretch>
            <a:fillRect/>
          </a:stretch>
        </p:blipFill>
        <p:spPr>
          <a:xfrm>
            <a:off x="3657600" y="3657600"/>
            <a:ext cx="320040" cy="320040"/>
          </a:xfrm>
          <a:prstGeom prst="rect">
            <a:avLst/>
          </a:prstGeom>
        </p:spPr>
      </p:pic>
      <p:sp>
        <p:nvSpPr>
          <p:cNvPr id="25" name="Text 19"/>
          <p:cNvSpPr/>
          <p:nvPr/>
        </p:nvSpPr>
        <p:spPr>
          <a:xfrm>
            <a:off x="640080" y="3611880"/>
            <a:ext cx="2926080" cy="320040"/>
          </a:xfrm>
          <a:prstGeom prst="rect">
            <a:avLst/>
          </a:prstGeom>
          <a:noFill/>
          <a:ln/>
        </p:spPr>
        <p:txBody>
          <a:bodyPr wrap="square" lIns="0" tIns="0" rIns="0" bIns="0" rtlCol="0" anchor="ctr"/>
          <a:lstStyle/>
          <a:p>
            <a:pPr rtl="1" algn="r" indent="0" marL="0">
              <a:buNone/>
            </a:pPr>
            <a:r>
              <a:rPr lang="ar-SA" altLang="en-US" sz="1400" b="1" dirty="0">
                <a:solidFill>
                  <a:srgbClr val="1A2332"/>
                </a:solidFill>
                <a:latin typeface="Calibri" pitchFamily="34" charset="0"/>
                <a:ea typeface="Calibri" pitchFamily="34" charset="-122"/>
                <a:cs typeface="Calibri" pitchFamily="34" charset="-120"/>
              </a:rPr>
              <a:t>تنبيهات فورية</a:t>
            </a:r>
            <a:endParaRPr lang="ar-SA" sz="1400" dirty="0"/>
          </a:p>
        </p:txBody>
      </p:sp>
      <p:sp>
        <p:nvSpPr>
          <p:cNvPr id="26" name="Text 20"/>
          <p:cNvSpPr/>
          <p:nvPr/>
        </p:nvSpPr>
        <p:spPr>
          <a:xfrm>
            <a:off x="640080" y="3977640"/>
            <a:ext cx="3383280" cy="5943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إرسال تنبيهات فورية للإدارة لاتخاذ الإجراءات المناسبة</a:t>
            </a:r>
            <a:endParaRPr lang="ar-SA" sz="1100" dirty="0"/>
          </a:p>
        </p:txBody>
      </p:sp>
      <p:sp>
        <p:nvSpPr>
          <p:cNvPr id="27" name="Shape 21"/>
          <p:cNvSpPr/>
          <p:nvPr/>
        </p:nvSpPr>
        <p:spPr>
          <a:xfrm>
            <a:off x="0" y="4892040"/>
            <a:ext cx="9144000" cy="256032"/>
          </a:xfrm>
          <a:prstGeom prst="rect">
            <a:avLst/>
          </a:prstGeom>
          <a:solidFill>
            <a:srgbClr val="1A2332"/>
          </a:solidFill>
          <a:ln/>
        </p:spPr>
      </p:sp>
      <p:sp>
        <p:nvSpPr>
          <p:cNvPr id="28" name="Text 22"/>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640080"/>
          </a:xfrm>
          <a:prstGeom prst="rect">
            <a:avLst/>
          </a:prstGeom>
          <a:noFill/>
          <a:ln/>
        </p:spPr>
        <p:txBody>
          <a:bodyPr wrap="square" lIns="0" tIns="0" rIns="0" bIns="0" rtlCol="0" anchor="ctr"/>
          <a:lstStyle/>
          <a:p>
            <a:pPr rtl="1" algn="r" indent="0" marL="0">
              <a:buNone/>
            </a:pPr>
            <a:r>
              <a:rPr lang="ar-SA" altLang="en-US" sz="3600" b="1" dirty="0">
                <a:solidFill>
                  <a:srgbClr val="1A2332"/>
                </a:solidFill>
                <a:latin typeface="Georgia" pitchFamily="34" charset="0"/>
                <a:ea typeface="Georgia" pitchFamily="34" charset="-122"/>
                <a:cs typeface="Georgia" pitchFamily="34" charset="-120"/>
              </a:rPr>
              <a:t>نطاق المشروع</a:t>
            </a:r>
            <a:endParaRPr lang="ar-SA" sz="3600" dirty="0"/>
          </a:p>
        </p:txBody>
      </p:sp>
      <p:sp>
        <p:nvSpPr>
          <p:cNvPr id="5" name="Shape 3"/>
          <p:cNvSpPr/>
          <p:nvPr/>
        </p:nvSpPr>
        <p:spPr>
          <a:xfrm>
            <a:off x="4480560" y="1051560"/>
            <a:ext cx="4206240" cy="329184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6" name="Shape 4"/>
          <p:cNvSpPr/>
          <p:nvPr/>
        </p:nvSpPr>
        <p:spPr>
          <a:xfrm>
            <a:off x="8631936" y="1051560"/>
            <a:ext cx="54864" cy="3291840"/>
          </a:xfrm>
          <a:prstGeom prst="rect">
            <a:avLst/>
          </a:prstGeom>
          <a:solidFill>
            <a:srgbClr val="22C55E"/>
          </a:solidFill>
          <a:ln/>
        </p:spPr>
      </p:sp>
      <p:sp>
        <p:nvSpPr>
          <p:cNvPr id="7" name="Text 5"/>
          <p:cNvSpPr/>
          <p:nvPr/>
        </p:nvSpPr>
        <p:spPr>
          <a:xfrm>
            <a:off x="4663440" y="1188720"/>
            <a:ext cx="3840480" cy="457200"/>
          </a:xfrm>
          <a:prstGeom prst="rect">
            <a:avLst/>
          </a:prstGeom>
          <a:noFill/>
          <a:ln/>
        </p:spPr>
        <p:txBody>
          <a:bodyPr wrap="square" lIns="0" tIns="0" rIns="0" bIns="0" rtlCol="0" anchor="ctr"/>
          <a:lstStyle/>
          <a:p>
            <a:pPr rtl="1" algn="r" indent="0" marL="0">
              <a:buNone/>
            </a:pPr>
            <a:r>
              <a:rPr lang="ar-SA" altLang="en-US" sz="1600" b="1" dirty="0">
                <a:solidFill>
                  <a:srgbClr val="16A34A"/>
                </a:solidFill>
                <a:latin typeface="Calibri" pitchFamily="34" charset="0"/>
                <a:ea typeface="Calibri" pitchFamily="34" charset="-122"/>
                <a:cs typeface="Calibri" pitchFamily="34" charset="-120"/>
              </a:rPr>
              <a:t>ما يشمله المشروع</a:t>
            </a:r>
            <a:endParaRPr lang="ar-SA" sz="1600" dirty="0"/>
          </a:p>
        </p:txBody>
      </p:sp>
      <p:sp>
        <p:nvSpPr>
          <p:cNvPr id="8" name="Text 6"/>
          <p:cNvSpPr/>
          <p:nvPr/>
        </p:nvSpPr>
        <p:spPr>
          <a:xfrm>
            <a:off x="4663440" y="1737360"/>
            <a:ext cx="3749040" cy="2468880"/>
          </a:xfrm>
          <a:prstGeom prst="rect">
            <a:avLst/>
          </a:prstGeom>
          <a:noFill/>
          <a:ln/>
        </p:spPr>
        <p:txBody>
          <a:bodyPr wrap="square" rtlCol="0" anchor="ctr"/>
          <a:lstStyle/>
          <a:p>
            <a:pPr algn="r" marL="342900" indent="-342900">
              <a:spcAft>
                <a:spcPts val="800"/>
              </a:spcAft>
              <a:buSzPct val="100000"/>
              <a:buChar char="•"/>
            </a:pPr>
            <a:r>
              <a:rPr lang="ar-SA" altLang="en-US" sz="1200" dirty="0">
                <a:solidFill>
                  <a:srgbClr val="334155"/>
                </a:solidFill>
                <a:latin typeface="Calibri" pitchFamily="34" charset="0"/>
                <a:ea typeface="Calibri" pitchFamily="34" charset="-122"/>
                <a:cs typeface="Calibri" pitchFamily="34" charset="-120"/>
              </a:rPr>
              <a:t>تسجيل حضور الموظفين بدقة عند نقاط الدخول باستخدام تقنية التعرف على الوجه</a:t>
            </a:r>
            <a:endParaRPr lang="ar-SA" sz="1200" dirty="0"/>
          </a:p>
          <a:p>
            <a:pPr algn="r" marL="342900" indent="-342900">
              <a:spcAft>
                <a:spcPts val="800"/>
              </a:spcAft>
              <a:buSzPct val="100000"/>
              <a:buChar char="•"/>
            </a:pPr>
            <a:r>
              <a:rPr lang="ar-SA" altLang="en-US" sz="1200" dirty="0">
                <a:solidFill>
                  <a:srgbClr val="334155"/>
                </a:solidFill>
                <a:latin typeface="Calibri" pitchFamily="34" charset="0"/>
                <a:ea typeface="Calibri" pitchFamily="34" charset="-122"/>
                <a:cs typeface="Calibri" pitchFamily="34" charset="-120"/>
              </a:rPr>
              <a:t>تتبع حركة الموظفين داخل المكاتب باستخدام كاميرات المراقبة وربطها بسجلات الحضور</a:t>
            </a:r>
            <a:endParaRPr lang="ar-SA" sz="1200" dirty="0"/>
          </a:p>
          <a:p>
            <a:pPr algn="r" marL="342900" indent="-342900">
              <a:spcAft>
                <a:spcPts val="800"/>
              </a:spcAft>
              <a:buSzPct val="100000"/>
              <a:buChar char="•"/>
            </a:pPr>
            <a:r>
              <a:rPr lang="ar-SA" altLang="en-US" sz="1200" dirty="0">
                <a:solidFill>
                  <a:srgbClr val="334155"/>
                </a:solidFill>
                <a:latin typeface="Calibri" pitchFamily="34" charset="0"/>
                <a:ea typeface="Calibri" pitchFamily="34" charset="-122"/>
                <a:cs typeface="Calibri" pitchFamily="34" charset="-120"/>
              </a:rPr>
              <a:t>تحليل التواجد الفعلي للموظفين مقارنة بالجدول الزمني المحدد</a:t>
            </a:r>
            <a:endParaRPr lang="ar-SA" sz="1200" dirty="0"/>
          </a:p>
          <a:p>
            <a:pPr algn="r" marL="342900" indent="-342900">
              <a:buSzPct val="100000"/>
              <a:buChar char="•"/>
            </a:pPr>
            <a:r>
              <a:rPr lang="ar-SA" altLang="en-US" sz="1200" dirty="0">
                <a:solidFill>
                  <a:srgbClr val="334155"/>
                </a:solidFill>
                <a:latin typeface="Calibri" pitchFamily="34" charset="0"/>
                <a:ea typeface="Calibri" pitchFamily="34" charset="-122"/>
                <a:cs typeface="Calibri" pitchFamily="34" charset="-120"/>
              </a:rPr>
              <a:t>إرسال تنبيهات فورية للإدارة عند وجود حالات غير طبيعية</a:t>
            </a:r>
            <a:endParaRPr lang="ar-SA" sz="1200" dirty="0"/>
          </a:p>
        </p:txBody>
      </p:sp>
      <p:sp>
        <p:nvSpPr>
          <p:cNvPr id="9" name="Shape 7"/>
          <p:cNvSpPr/>
          <p:nvPr/>
        </p:nvSpPr>
        <p:spPr>
          <a:xfrm>
            <a:off x="457200" y="1051560"/>
            <a:ext cx="3749040" cy="164592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0" name="Shape 8"/>
          <p:cNvSpPr/>
          <p:nvPr/>
        </p:nvSpPr>
        <p:spPr>
          <a:xfrm>
            <a:off x="4151376" y="1051560"/>
            <a:ext cx="54864" cy="1645920"/>
          </a:xfrm>
          <a:prstGeom prst="rect">
            <a:avLst/>
          </a:prstGeom>
          <a:solidFill>
            <a:srgbClr val="EF4444"/>
          </a:solidFill>
          <a:ln/>
        </p:spPr>
      </p:sp>
      <p:sp>
        <p:nvSpPr>
          <p:cNvPr id="11" name="Text 9"/>
          <p:cNvSpPr/>
          <p:nvPr/>
        </p:nvSpPr>
        <p:spPr>
          <a:xfrm>
            <a:off x="640080" y="1188720"/>
            <a:ext cx="3383280" cy="457200"/>
          </a:xfrm>
          <a:prstGeom prst="rect">
            <a:avLst/>
          </a:prstGeom>
          <a:noFill/>
          <a:ln/>
        </p:spPr>
        <p:txBody>
          <a:bodyPr wrap="square" lIns="0" tIns="0" rIns="0" bIns="0" rtlCol="0" anchor="ctr"/>
          <a:lstStyle/>
          <a:p>
            <a:pPr rtl="1" algn="r" indent="0" marL="0">
              <a:buNone/>
            </a:pPr>
            <a:r>
              <a:rPr lang="ar-SA" altLang="en-US" sz="1600" b="1" dirty="0">
                <a:solidFill>
                  <a:srgbClr val="DC2626"/>
                </a:solidFill>
                <a:latin typeface="Calibri" pitchFamily="34" charset="0"/>
                <a:ea typeface="Calibri" pitchFamily="34" charset="-122"/>
                <a:cs typeface="Calibri" pitchFamily="34" charset="-120"/>
              </a:rPr>
              <a:t>ما لا يشمله المشروع</a:t>
            </a:r>
            <a:endParaRPr lang="ar-SA" sz="1600" dirty="0"/>
          </a:p>
        </p:txBody>
      </p:sp>
      <p:sp>
        <p:nvSpPr>
          <p:cNvPr id="12" name="Text 10"/>
          <p:cNvSpPr/>
          <p:nvPr/>
        </p:nvSpPr>
        <p:spPr>
          <a:xfrm>
            <a:off x="640080" y="1737360"/>
            <a:ext cx="3200400" cy="822960"/>
          </a:xfrm>
          <a:prstGeom prst="rect">
            <a:avLst/>
          </a:prstGeom>
          <a:noFill/>
          <a:ln/>
        </p:spPr>
        <p:txBody>
          <a:bodyPr wrap="square" rtlCol="0" anchor="ctr"/>
          <a:lstStyle/>
          <a:p>
            <a:pPr algn="r" marL="342900" indent="-342900">
              <a:spcAft>
                <a:spcPts val="600"/>
              </a:spcAft>
              <a:buSzPct val="100000"/>
              <a:buChar char="•"/>
            </a:pPr>
            <a:r>
              <a:rPr lang="ar-SA" altLang="en-US" sz="1200" dirty="0">
                <a:solidFill>
                  <a:srgbClr val="334155"/>
                </a:solidFill>
                <a:latin typeface="Calibri" pitchFamily="34" charset="0"/>
                <a:ea typeface="Calibri" pitchFamily="34" charset="-122"/>
                <a:cs typeface="Calibri" pitchFamily="34" charset="-120"/>
              </a:rPr>
              <a:t>تتبع الموظفين خارج نطاق المبنى</a:t>
            </a:r>
            <a:endParaRPr lang="ar-SA" sz="1200" dirty="0"/>
          </a:p>
          <a:p>
            <a:pPr algn="r" marL="342900" indent="-342900">
              <a:buSzPct val="100000"/>
              <a:buChar char="•"/>
            </a:pPr>
            <a:r>
              <a:rPr lang="ar-SA" altLang="en-US" sz="1200" dirty="0">
                <a:solidFill>
                  <a:srgbClr val="334155"/>
                </a:solidFill>
                <a:latin typeface="Calibri" pitchFamily="34" charset="0"/>
                <a:ea typeface="Calibri" pitchFamily="34" charset="-122"/>
                <a:cs typeface="Calibri" pitchFamily="34" charset="-120"/>
              </a:rPr>
              <a:t>المراقبة الشخصية خارج أوقات العمل الرسمية</a:t>
            </a:r>
            <a:endParaRPr lang="ar-SA" sz="1200" dirty="0"/>
          </a:p>
        </p:txBody>
      </p:sp>
      <p:sp>
        <p:nvSpPr>
          <p:cNvPr id="13" name="Shape 11"/>
          <p:cNvSpPr/>
          <p:nvPr/>
        </p:nvSpPr>
        <p:spPr>
          <a:xfrm>
            <a:off x="457200" y="2926080"/>
            <a:ext cx="3749040" cy="141732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4" name="Shape 12"/>
          <p:cNvSpPr/>
          <p:nvPr/>
        </p:nvSpPr>
        <p:spPr>
          <a:xfrm>
            <a:off x="4151376" y="2926080"/>
            <a:ext cx="54864" cy="1417320"/>
          </a:xfrm>
          <a:prstGeom prst="rect">
            <a:avLst/>
          </a:prstGeom>
          <a:solidFill>
            <a:srgbClr val="3B6CB4"/>
          </a:solidFill>
          <a:ln/>
        </p:spPr>
      </p:sp>
      <p:sp>
        <p:nvSpPr>
          <p:cNvPr id="15" name="Text 13"/>
          <p:cNvSpPr/>
          <p:nvPr/>
        </p:nvSpPr>
        <p:spPr>
          <a:xfrm>
            <a:off x="640080" y="3017520"/>
            <a:ext cx="3383280" cy="411480"/>
          </a:xfrm>
          <a:prstGeom prst="rect">
            <a:avLst/>
          </a:prstGeom>
          <a:noFill/>
          <a:ln/>
        </p:spPr>
        <p:txBody>
          <a:bodyPr wrap="square" lIns="0" tIns="0" rIns="0" bIns="0" rtlCol="0" anchor="ctr"/>
          <a:lstStyle/>
          <a:p>
            <a:pPr rtl="1" algn="r" indent="0" marL="0">
              <a:buNone/>
            </a:pPr>
            <a:r>
              <a:rPr lang="ar-SA" altLang="en-US" sz="1600" b="1" dirty="0">
                <a:solidFill>
                  <a:srgbClr val="2C3E6B"/>
                </a:solidFill>
                <a:latin typeface="Calibri" pitchFamily="34" charset="0"/>
                <a:ea typeface="Calibri" pitchFamily="34" charset="-122"/>
                <a:cs typeface="Calibri" pitchFamily="34" charset="-120"/>
              </a:rPr>
              <a:t>المستخدمون المستهدفون</a:t>
            </a:r>
            <a:endParaRPr lang="ar-SA" sz="1600" dirty="0"/>
          </a:p>
        </p:txBody>
      </p:sp>
      <p:sp>
        <p:nvSpPr>
          <p:cNvPr id="16" name="Text 14"/>
          <p:cNvSpPr/>
          <p:nvPr/>
        </p:nvSpPr>
        <p:spPr>
          <a:xfrm>
            <a:off x="640080" y="3474720"/>
            <a:ext cx="3200400" cy="731520"/>
          </a:xfrm>
          <a:prstGeom prst="rect">
            <a:avLst/>
          </a:prstGeom>
          <a:noFill/>
          <a:ln/>
        </p:spPr>
        <p:txBody>
          <a:bodyPr wrap="square" rtlCol="0" anchor="ctr"/>
          <a:lstStyle/>
          <a:p>
            <a:pPr algn="r" marL="342900" indent="-342900">
              <a:spcAft>
                <a:spcPts val="400"/>
              </a:spcAft>
              <a:buSzPct val="100000"/>
              <a:buChar char="•"/>
            </a:pPr>
            <a:r>
              <a:rPr lang="ar-SA" altLang="en-US" sz="1200" dirty="0">
                <a:solidFill>
                  <a:srgbClr val="334155"/>
                </a:solidFill>
                <a:latin typeface="Calibri" pitchFamily="34" charset="0"/>
                <a:ea typeface="Calibri" pitchFamily="34" charset="-122"/>
                <a:cs typeface="Calibri" pitchFamily="34" charset="-120"/>
              </a:rPr>
              <a:t>موظفو الشركة</a:t>
            </a:r>
            <a:endParaRPr lang="ar-SA" sz="1200" dirty="0"/>
          </a:p>
          <a:p>
            <a:pPr algn="r" marL="342900" indent="-342900">
              <a:spcAft>
                <a:spcPts val="400"/>
              </a:spcAft>
              <a:buSzPct val="100000"/>
              <a:buChar char="•"/>
            </a:pPr>
            <a:r>
              <a:rPr lang="ar-SA" altLang="en-US" sz="1200" dirty="0">
                <a:solidFill>
                  <a:srgbClr val="334155"/>
                </a:solidFill>
                <a:latin typeface="Calibri" pitchFamily="34" charset="0"/>
                <a:ea typeface="Calibri" pitchFamily="34" charset="-122"/>
                <a:cs typeface="Calibri" pitchFamily="34" charset="-120"/>
              </a:rPr>
              <a:t>الإدارة والموظفون المسؤولون</a:t>
            </a:r>
            <a:endParaRPr lang="ar-SA" sz="1200" dirty="0"/>
          </a:p>
          <a:p>
            <a:pPr algn="r" marL="342900" indent="-342900">
              <a:buSzPct val="100000"/>
              <a:buChar char="•"/>
            </a:pPr>
            <a:r>
              <a:rPr lang="ar-SA" altLang="en-US" sz="1200" dirty="0">
                <a:solidFill>
                  <a:srgbClr val="334155"/>
                </a:solidFill>
                <a:latin typeface="Calibri" pitchFamily="34" charset="0"/>
                <a:ea typeface="Calibri" pitchFamily="34" charset="-122"/>
                <a:cs typeface="Calibri" pitchFamily="34" charset="-120"/>
              </a:rPr>
              <a:t>قسم الأمن</a:t>
            </a:r>
            <a:endParaRPr lang="ar-SA" sz="1200" dirty="0"/>
          </a:p>
        </p:txBody>
      </p:sp>
      <p:sp>
        <p:nvSpPr>
          <p:cNvPr id="17" name="Shape 15"/>
          <p:cNvSpPr/>
          <p:nvPr/>
        </p:nvSpPr>
        <p:spPr>
          <a:xfrm>
            <a:off x="0" y="4892040"/>
            <a:ext cx="9144000" cy="256032"/>
          </a:xfrm>
          <a:prstGeom prst="rect">
            <a:avLst/>
          </a:prstGeom>
          <a:solidFill>
            <a:srgbClr val="1A2332"/>
          </a:solidFill>
          <a:ln/>
        </p:spPr>
      </p:sp>
      <p:sp>
        <p:nvSpPr>
          <p:cNvPr id="18" name="Text 16"/>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640080"/>
          </a:xfrm>
          <a:prstGeom prst="rect">
            <a:avLst/>
          </a:prstGeom>
          <a:noFill/>
          <a:ln/>
        </p:spPr>
        <p:txBody>
          <a:bodyPr wrap="square" lIns="0" tIns="0" rIns="0" bIns="0" rtlCol="0" anchor="ctr"/>
          <a:lstStyle/>
          <a:p>
            <a:pPr rtl="1" algn="r" indent="0" marL="0">
              <a:buNone/>
            </a:pPr>
            <a:r>
              <a:rPr lang="ar-SA" altLang="en-US" sz="3200" b="1" dirty="0">
                <a:solidFill>
                  <a:srgbClr val="1A2332"/>
                </a:solidFill>
                <a:latin typeface="Georgia" pitchFamily="34" charset="0"/>
                <a:ea typeface="Georgia" pitchFamily="34" charset="-122"/>
                <a:cs typeface="Georgia" pitchFamily="34" charset="-120"/>
              </a:rPr>
              <a:t>المتطلبات الوظيفية وغير الوظيفية</a:t>
            </a:r>
            <a:endParaRPr lang="ar-SA" sz="3200" dirty="0"/>
          </a:p>
        </p:txBody>
      </p:sp>
      <p:sp>
        <p:nvSpPr>
          <p:cNvPr id="5" name="Shape 3"/>
          <p:cNvSpPr/>
          <p:nvPr/>
        </p:nvSpPr>
        <p:spPr>
          <a:xfrm>
            <a:off x="4663440" y="1051560"/>
            <a:ext cx="402336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6" name="Shape 4"/>
          <p:cNvSpPr/>
          <p:nvPr/>
        </p:nvSpPr>
        <p:spPr>
          <a:xfrm>
            <a:off x="8631936" y="1051560"/>
            <a:ext cx="54864" cy="3566160"/>
          </a:xfrm>
          <a:prstGeom prst="rect">
            <a:avLst/>
          </a:prstGeom>
          <a:solidFill>
            <a:srgbClr val="3B6CB4"/>
          </a:solidFill>
          <a:ln/>
        </p:spPr>
      </p:sp>
      <p:sp>
        <p:nvSpPr>
          <p:cNvPr id="7" name="Text 5"/>
          <p:cNvSpPr/>
          <p:nvPr/>
        </p:nvSpPr>
        <p:spPr>
          <a:xfrm>
            <a:off x="4846320" y="1188720"/>
            <a:ext cx="3566160" cy="411480"/>
          </a:xfrm>
          <a:prstGeom prst="rect">
            <a:avLst/>
          </a:prstGeom>
          <a:noFill/>
          <a:ln/>
        </p:spPr>
        <p:txBody>
          <a:bodyPr wrap="square" lIns="0" tIns="0" rIns="0" bIns="0" rtlCol="0" anchor="ctr"/>
          <a:lstStyle/>
          <a:p>
            <a:pPr rtl="1" algn="r" indent="0" marL="0">
              <a:buNone/>
            </a:pPr>
            <a:r>
              <a:rPr lang="ar-SA" altLang="en-US" sz="1700" b="1" dirty="0">
                <a:solidFill>
                  <a:srgbClr val="2C3E6B"/>
                </a:solidFill>
                <a:latin typeface="Calibri" pitchFamily="34" charset="0"/>
                <a:ea typeface="Calibri" pitchFamily="34" charset="-122"/>
                <a:cs typeface="Calibri" pitchFamily="34" charset="-120"/>
              </a:rPr>
              <a:t>متطلبات وظيفية</a:t>
            </a:r>
            <a:endParaRPr lang="ar-SA" sz="1700" dirty="0"/>
          </a:p>
        </p:txBody>
      </p:sp>
      <p:sp>
        <p:nvSpPr>
          <p:cNvPr id="8" name="Text 6"/>
          <p:cNvSpPr/>
          <p:nvPr/>
        </p:nvSpPr>
        <p:spPr>
          <a:xfrm>
            <a:off x="4846320" y="1737360"/>
            <a:ext cx="356616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إدارة ملفات الموظفين</a:t>
            </a:r>
            <a:endParaRPr lang="ar-SA" sz="1300" dirty="0"/>
          </a:p>
        </p:txBody>
      </p:sp>
      <p:sp>
        <p:nvSpPr>
          <p:cNvPr id="9" name="Text 7"/>
          <p:cNvSpPr/>
          <p:nvPr/>
        </p:nvSpPr>
        <p:spPr>
          <a:xfrm>
            <a:off x="4846320" y="2011680"/>
            <a:ext cx="356616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إنشاء وتخزين ملفات تشمل البيانات الشخصية وجدول الدوام</a:t>
            </a:r>
            <a:endParaRPr lang="ar-SA" sz="1100" dirty="0"/>
          </a:p>
        </p:txBody>
      </p:sp>
      <p:sp>
        <p:nvSpPr>
          <p:cNvPr id="10" name="Text 8"/>
          <p:cNvSpPr/>
          <p:nvPr/>
        </p:nvSpPr>
        <p:spPr>
          <a:xfrm>
            <a:off x="4846320" y="2514600"/>
            <a:ext cx="356616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تسجيل الحضور والانصراف</a:t>
            </a:r>
            <a:endParaRPr lang="ar-SA" sz="1300" dirty="0"/>
          </a:p>
        </p:txBody>
      </p:sp>
      <p:sp>
        <p:nvSpPr>
          <p:cNvPr id="11" name="Text 9"/>
          <p:cNvSpPr/>
          <p:nvPr/>
        </p:nvSpPr>
        <p:spPr>
          <a:xfrm>
            <a:off x="4846320" y="2788920"/>
            <a:ext cx="356616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تسجيل تلقائي عند الدخول والخروج بالتعرف على الوجه</a:t>
            </a:r>
            <a:endParaRPr lang="ar-SA" sz="1100" dirty="0"/>
          </a:p>
        </p:txBody>
      </p:sp>
      <p:sp>
        <p:nvSpPr>
          <p:cNvPr id="12" name="Text 10"/>
          <p:cNvSpPr/>
          <p:nvPr/>
        </p:nvSpPr>
        <p:spPr>
          <a:xfrm>
            <a:off x="4846320" y="3291840"/>
            <a:ext cx="356616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نظام التنبيهات</a:t>
            </a:r>
            <a:endParaRPr lang="ar-SA" sz="1300" dirty="0"/>
          </a:p>
        </p:txBody>
      </p:sp>
      <p:sp>
        <p:nvSpPr>
          <p:cNvPr id="13" name="Text 11"/>
          <p:cNvSpPr/>
          <p:nvPr/>
        </p:nvSpPr>
        <p:spPr>
          <a:xfrm>
            <a:off x="4846320" y="3566160"/>
            <a:ext cx="356616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تنبيهات فورية عند التأخير أو الغياب غير المبرر</a:t>
            </a:r>
            <a:endParaRPr lang="ar-SA" sz="1100" dirty="0"/>
          </a:p>
        </p:txBody>
      </p:sp>
      <p:sp>
        <p:nvSpPr>
          <p:cNvPr id="14" name="Text 12"/>
          <p:cNvSpPr/>
          <p:nvPr/>
        </p:nvSpPr>
        <p:spPr>
          <a:xfrm>
            <a:off x="4846320" y="4069080"/>
            <a:ext cx="356616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التقارير والإحصائيات</a:t>
            </a:r>
            <a:endParaRPr lang="ar-SA" sz="1300" dirty="0"/>
          </a:p>
        </p:txBody>
      </p:sp>
      <p:sp>
        <p:nvSpPr>
          <p:cNvPr id="15" name="Text 13"/>
          <p:cNvSpPr/>
          <p:nvPr/>
        </p:nvSpPr>
        <p:spPr>
          <a:xfrm>
            <a:off x="4846320" y="4343400"/>
            <a:ext cx="356616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تقارير دورية عن نسب الالتزام ومتوسط التأخير</a:t>
            </a:r>
            <a:endParaRPr lang="ar-SA" sz="1100" dirty="0"/>
          </a:p>
        </p:txBody>
      </p:sp>
      <p:sp>
        <p:nvSpPr>
          <p:cNvPr id="16" name="Shape 14"/>
          <p:cNvSpPr/>
          <p:nvPr/>
        </p:nvSpPr>
        <p:spPr>
          <a:xfrm>
            <a:off x="457200" y="1051560"/>
            <a:ext cx="393192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7" name="Shape 15"/>
          <p:cNvSpPr/>
          <p:nvPr/>
        </p:nvSpPr>
        <p:spPr>
          <a:xfrm>
            <a:off x="4334256" y="1051560"/>
            <a:ext cx="54864" cy="3566160"/>
          </a:xfrm>
          <a:prstGeom prst="rect">
            <a:avLst/>
          </a:prstGeom>
          <a:solidFill>
            <a:srgbClr val="0EA5E9"/>
          </a:solidFill>
          <a:ln/>
        </p:spPr>
      </p:sp>
      <p:sp>
        <p:nvSpPr>
          <p:cNvPr id="18" name="Text 16"/>
          <p:cNvSpPr/>
          <p:nvPr/>
        </p:nvSpPr>
        <p:spPr>
          <a:xfrm>
            <a:off x="640080" y="1188720"/>
            <a:ext cx="3566160" cy="411480"/>
          </a:xfrm>
          <a:prstGeom prst="rect">
            <a:avLst/>
          </a:prstGeom>
          <a:noFill/>
          <a:ln/>
        </p:spPr>
        <p:txBody>
          <a:bodyPr wrap="square" lIns="0" tIns="0" rIns="0" bIns="0" rtlCol="0" anchor="ctr"/>
          <a:lstStyle/>
          <a:p>
            <a:pPr rtl="1" algn="r" indent="0" marL="0">
              <a:buNone/>
            </a:pPr>
            <a:r>
              <a:rPr lang="ar-SA" altLang="en-US" sz="1700" b="1" dirty="0">
                <a:solidFill>
                  <a:srgbClr val="0EA5E9"/>
                </a:solidFill>
                <a:latin typeface="Calibri" pitchFamily="34" charset="0"/>
                <a:ea typeface="Calibri" pitchFamily="34" charset="-122"/>
                <a:cs typeface="Calibri" pitchFamily="34" charset="-120"/>
              </a:rPr>
              <a:t>متطلبات غير وظيفية</a:t>
            </a:r>
            <a:endParaRPr lang="ar-SA" sz="1700" dirty="0"/>
          </a:p>
        </p:txBody>
      </p:sp>
      <p:sp>
        <p:nvSpPr>
          <p:cNvPr id="19" name="Text 17"/>
          <p:cNvSpPr/>
          <p:nvPr/>
        </p:nvSpPr>
        <p:spPr>
          <a:xfrm>
            <a:off x="640080" y="1737360"/>
            <a:ext cx="347472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الأداء (Performance)</a:t>
            </a:r>
            <a:endParaRPr lang="ar-SA" sz="1300" dirty="0"/>
          </a:p>
        </p:txBody>
      </p:sp>
      <p:sp>
        <p:nvSpPr>
          <p:cNvPr id="20" name="Text 18"/>
          <p:cNvSpPr/>
          <p:nvPr/>
        </p:nvSpPr>
        <p:spPr>
          <a:xfrm>
            <a:off x="640080" y="2011680"/>
            <a:ext cx="347472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استجابة سريعة والتعرف على الوجه في الوقت الفعلي</a:t>
            </a:r>
            <a:endParaRPr lang="ar-SA" sz="1100" dirty="0"/>
          </a:p>
        </p:txBody>
      </p:sp>
      <p:sp>
        <p:nvSpPr>
          <p:cNvPr id="21" name="Text 19"/>
          <p:cNvSpPr/>
          <p:nvPr/>
        </p:nvSpPr>
        <p:spPr>
          <a:xfrm>
            <a:off x="640080" y="2514600"/>
            <a:ext cx="347472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الأمان (Security)</a:t>
            </a:r>
            <a:endParaRPr lang="ar-SA" sz="1300" dirty="0"/>
          </a:p>
        </p:txBody>
      </p:sp>
      <p:sp>
        <p:nvSpPr>
          <p:cNvPr id="22" name="Text 20"/>
          <p:cNvSpPr/>
          <p:nvPr/>
        </p:nvSpPr>
        <p:spPr>
          <a:xfrm>
            <a:off x="640080" y="2788920"/>
            <a:ext cx="347472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حماية البيانات الشخصية وضمان خصوصية الصور والسجلات</a:t>
            </a:r>
            <a:endParaRPr lang="ar-SA" sz="1100" dirty="0"/>
          </a:p>
        </p:txBody>
      </p:sp>
      <p:sp>
        <p:nvSpPr>
          <p:cNvPr id="23" name="Text 21"/>
          <p:cNvSpPr/>
          <p:nvPr/>
        </p:nvSpPr>
        <p:spPr>
          <a:xfrm>
            <a:off x="640080" y="3291840"/>
            <a:ext cx="347472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الاعتمادية (Reliability)</a:t>
            </a:r>
            <a:endParaRPr lang="ar-SA" sz="1300" dirty="0"/>
          </a:p>
        </p:txBody>
      </p:sp>
      <p:sp>
        <p:nvSpPr>
          <p:cNvPr id="24" name="Text 22"/>
          <p:cNvSpPr/>
          <p:nvPr/>
        </p:nvSpPr>
        <p:spPr>
          <a:xfrm>
            <a:off x="640080" y="3566160"/>
            <a:ext cx="347472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عمل مستمر بدون توقف أثناء ساعات الدوام</a:t>
            </a:r>
            <a:endParaRPr lang="ar-SA" sz="1100" dirty="0"/>
          </a:p>
        </p:txBody>
      </p:sp>
      <p:sp>
        <p:nvSpPr>
          <p:cNvPr id="25" name="Text 23"/>
          <p:cNvSpPr/>
          <p:nvPr/>
        </p:nvSpPr>
        <p:spPr>
          <a:xfrm>
            <a:off x="640080" y="4069080"/>
            <a:ext cx="3474720" cy="320040"/>
          </a:xfrm>
          <a:prstGeom prst="rect">
            <a:avLst/>
          </a:prstGeom>
          <a:noFill/>
          <a:ln/>
        </p:spPr>
        <p:txBody>
          <a:bodyPr wrap="square" lIns="0" tIns="0" rIns="0" bIns="0" rtlCol="0" anchor="ctr"/>
          <a:lstStyle/>
          <a:p>
            <a:pPr rtl="1" algn="r" indent="0" marL="0">
              <a:buNone/>
            </a:pPr>
            <a:r>
              <a:rPr lang="ar-SA" altLang="en-US" sz="1300" b="1" dirty="0">
                <a:solidFill>
                  <a:srgbClr val="1A2332"/>
                </a:solidFill>
                <a:latin typeface="Calibri" pitchFamily="34" charset="0"/>
                <a:ea typeface="Calibri" pitchFamily="34" charset="-122"/>
                <a:cs typeface="Calibri" pitchFamily="34" charset="-120"/>
              </a:rPr>
              <a:t>سهولة الاستخدام (Usability)</a:t>
            </a:r>
            <a:endParaRPr lang="ar-SA" sz="1300" dirty="0"/>
          </a:p>
        </p:txBody>
      </p:sp>
      <p:sp>
        <p:nvSpPr>
          <p:cNvPr id="26" name="Text 24"/>
          <p:cNvSpPr/>
          <p:nvPr/>
        </p:nvSpPr>
        <p:spPr>
          <a:xfrm>
            <a:off x="640080" y="4343400"/>
            <a:ext cx="3474720" cy="365760"/>
          </a:xfrm>
          <a:prstGeom prst="rect">
            <a:avLst/>
          </a:prstGeom>
          <a:noFill/>
          <a:ln/>
        </p:spPr>
        <p:txBody>
          <a:bodyPr wrap="square" lIns="0" tIns="0" rIns="0" bIns="0" rtlCol="0" anchor="ctr"/>
          <a:lstStyle/>
          <a:p>
            <a:pPr rtl="1" algn="r" indent="0" marL="0">
              <a:buNone/>
            </a:pPr>
            <a:r>
              <a:rPr lang="ar-SA" altLang="en-US" sz="1100" dirty="0">
                <a:solidFill>
                  <a:srgbClr val="64748B"/>
                </a:solidFill>
                <a:latin typeface="Calibri" pitchFamily="34" charset="0"/>
                <a:ea typeface="Calibri" pitchFamily="34" charset="-122"/>
                <a:cs typeface="Calibri" pitchFamily="34" charset="-120"/>
              </a:rPr>
              <a:t>واجهة واضحة وبسيطة دون الحاجة لتدريب مكثف</a:t>
            </a:r>
            <a:endParaRPr lang="ar-SA" sz="1100" dirty="0"/>
          </a:p>
        </p:txBody>
      </p:sp>
      <p:sp>
        <p:nvSpPr>
          <p:cNvPr id="27" name="Shape 25"/>
          <p:cNvSpPr/>
          <p:nvPr/>
        </p:nvSpPr>
        <p:spPr>
          <a:xfrm>
            <a:off x="0" y="4892040"/>
            <a:ext cx="9144000" cy="256032"/>
          </a:xfrm>
          <a:prstGeom prst="rect">
            <a:avLst/>
          </a:prstGeom>
          <a:solidFill>
            <a:srgbClr val="1A2332"/>
          </a:solidFill>
          <a:ln/>
        </p:spPr>
      </p:sp>
      <p:sp>
        <p:nvSpPr>
          <p:cNvPr id="28" name="Text 26"/>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640080"/>
          </a:xfrm>
          <a:prstGeom prst="rect">
            <a:avLst/>
          </a:prstGeom>
          <a:noFill/>
          <a:ln/>
        </p:spPr>
        <p:txBody>
          <a:bodyPr wrap="square" lIns="0" tIns="0" rIns="0" bIns="0" rtlCol="0" anchor="ctr"/>
          <a:lstStyle/>
          <a:p>
            <a:pPr rtl="1" algn="r" indent="0" marL="0">
              <a:buNone/>
            </a:pPr>
            <a:r>
              <a:rPr lang="ar-SA" altLang="en-US" sz="3200" b="1" dirty="0">
                <a:solidFill>
                  <a:srgbClr val="1A2332"/>
                </a:solidFill>
                <a:latin typeface="Georgia" pitchFamily="34" charset="0"/>
                <a:ea typeface="Georgia" pitchFamily="34" charset="-122"/>
                <a:cs typeface="Georgia" pitchFamily="34" charset="-120"/>
              </a:rPr>
              <a:t>وصف النظام - طبقات التحليل</a:t>
            </a:r>
            <a:endParaRPr lang="ar-SA" sz="3200" dirty="0"/>
          </a:p>
        </p:txBody>
      </p:sp>
      <p:sp>
        <p:nvSpPr>
          <p:cNvPr id="5" name="Shape 3"/>
          <p:cNvSpPr/>
          <p:nvPr/>
        </p:nvSpPr>
        <p:spPr>
          <a:xfrm>
            <a:off x="6720840" y="1097280"/>
            <a:ext cx="187452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6" name="Shape 4"/>
          <p:cNvSpPr/>
          <p:nvPr/>
        </p:nvSpPr>
        <p:spPr>
          <a:xfrm>
            <a:off x="6720840" y="1097280"/>
            <a:ext cx="1874520" cy="54864"/>
          </a:xfrm>
          <a:prstGeom prst="rect">
            <a:avLst/>
          </a:prstGeom>
          <a:solidFill>
            <a:srgbClr val="3B6CB4"/>
          </a:solidFill>
          <a:ln/>
        </p:spPr>
      </p:sp>
      <p:sp>
        <p:nvSpPr>
          <p:cNvPr id="7" name="Text 5"/>
          <p:cNvSpPr/>
          <p:nvPr/>
        </p:nvSpPr>
        <p:spPr>
          <a:xfrm>
            <a:off x="6720840" y="1280160"/>
            <a:ext cx="1874520" cy="457200"/>
          </a:xfrm>
          <a:prstGeom prst="rect">
            <a:avLst/>
          </a:prstGeom>
          <a:noFill/>
          <a:ln/>
        </p:spPr>
        <p:txBody>
          <a:bodyPr wrap="square" lIns="0" tIns="0" rIns="0" bIns="0" rtlCol="0" anchor="ctr"/>
          <a:lstStyle/>
          <a:p>
            <a:pPr algn="ctr" indent="0" marL="0">
              <a:buNone/>
            </a:pPr>
            <a:r>
              <a:rPr lang="en-US" sz="2800" b="1" dirty="0">
                <a:solidFill>
                  <a:srgbClr val="6B9FD4"/>
                </a:solidFill>
                <a:latin typeface="Georgia" pitchFamily="34" charset="0"/>
                <a:ea typeface="Georgia" pitchFamily="34" charset="-122"/>
                <a:cs typeface="Georgia" pitchFamily="34" charset="-120"/>
              </a:rPr>
              <a:t>01</a:t>
            </a:r>
            <a:endParaRPr lang="en-US" sz="2800" dirty="0"/>
          </a:p>
        </p:txBody>
      </p:sp>
      <p:sp>
        <p:nvSpPr>
          <p:cNvPr id="8" name="Shape 6"/>
          <p:cNvSpPr/>
          <p:nvPr/>
        </p:nvSpPr>
        <p:spPr>
          <a:xfrm>
            <a:off x="7338060" y="1828800"/>
            <a:ext cx="640080" cy="640080"/>
          </a:xfrm>
          <a:prstGeom prst="ellipse">
            <a:avLst/>
          </a:prstGeom>
          <a:solidFill>
            <a:srgbClr val="3B6CB4"/>
          </a:solidFill>
          <a:ln/>
        </p:spPr>
      </p:sp>
      <p:pic>
        <p:nvPicPr>
          <p:cNvPr id="9" name="Image 0" descr="preencoded.png">    </p:cNvPr>
          <p:cNvPicPr>
            <a:picLocks noChangeAspect="1"/>
          </p:cNvPicPr>
          <p:nvPr/>
        </p:nvPicPr>
        <p:blipFill>
          <a:blip r:embed="rId1"/>
          <a:stretch>
            <a:fillRect/>
          </a:stretch>
        </p:blipFill>
        <p:spPr>
          <a:xfrm>
            <a:off x="7452360" y="1938528"/>
            <a:ext cx="411480" cy="411480"/>
          </a:xfrm>
          <a:prstGeom prst="rect">
            <a:avLst/>
          </a:prstGeom>
        </p:spPr>
      </p:pic>
      <p:sp>
        <p:nvSpPr>
          <p:cNvPr id="10" name="Text 7"/>
          <p:cNvSpPr/>
          <p:nvPr/>
        </p:nvSpPr>
        <p:spPr>
          <a:xfrm>
            <a:off x="6812280" y="2606040"/>
            <a:ext cx="1691640" cy="365760"/>
          </a:xfrm>
          <a:prstGeom prst="rect">
            <a:avLst/>
          </a:prstGeom>
          <a:noFill/>
          <a:ln/>
        </p:spPr>
        <p:txBody>
          <a:bodyPr wrap="square" lIns="0" tIns="0" rIns="0" bIns="0" rtlCol="0" anchor="ctr"/>
          <a:lstStyle/>
          <a:p>
            <a:pPr rtl="1" algn="ctr" indent="0" marL="0">
              <a:buNone/>
            </a:pPr>
            <a:r>
              <a:rPr lang="ar-SA" altLang="en-US" sz="1400" b="1" dirty="0">
                <a:solidFill>
                  <a:srgbClr val="1A2332"/>
                </a:solidFill>
                <a:latin typeface="Calibri" pitchFamily="34" charset="0"/>
                <a:ea typeface="Calibri" pitchFamily="34" charset="-122"/>
                <a:cs typeface="Calibri" pitchFamily="34" charset="-120"/>
              </a:rPr>
              <a:t>تسجيل الحضور</a:t>
            </a:r>
            <a:endParaRPr lang="ar-SA" sz="1400" dirty="0"/>
          </a:p>
        </p:txBody>
      </p:sp>
      <p:sp>
        <p:nvSpPr>
          <p:cNvPr id="11" name="Text 8"/>
          <p:cNvSpPr/>
          <p:nvPr/>
        </p:nvSpPr>
        <p:spPr>
          <a:xfrm>
            <a:off x="6858000" y="3017520"/>
            <a:ext cx="1600200" cy="1371600"/>
          </a:xfrm>
          <a:prstGeom prst="rect">
            <a:avLst/>
          </a:prstGeom>
          <a:noFill/>
          <a:ln/>
        </p:spPr>
        <p:txBody>
          <a:bodyPr wrap="square" rtlCol="0" anchor="ctr"/>
          <a:lstStyle/>
          <a:p>
            <a:pPr rtl="1" algn="ctr" indent="0" marL="0">
              <a:lnSpc>
                <a:spcPct val="120000"/>
              </a:lnSpc>
              <a:buNone/>
            </a:pPr>
            <a:r>
              <a:rPr lang="ar-SA" altLang="en-US" sz="1050" dirty="0">
                <a:solidFill>
                  <a:srgbClr val="64748B"/>
                </a:solidFill>
                <a:latin typeface="Calibri" pitchFamily="34" charset="0"/>
                <a:ea typeface="Calibri" pitchFamily="34" charset="-122"/>
                <a:cs typeface="Calibri" pitchFamily="34" charset="-120"/>
              </a:rPr>
              <a:t>التعرف على الوجه عبر كاميرا مخصصة عند نقاط الدخول ومطابقة الهوية مع قاعدة البيانات</a:t>
            </a:r>
            <a:endParaRPr lang="ar-SA" sz="1050" dirty="0"/>
          </a:p>
        </p:txBody>
      </p:sp>
      <p:sp>
        <p:nvSpPr>
          <p:cNvPr id="12" name="Shape 9"/>
          <p:cNvSpPr/>
          <p:nvPr/>
        </p:nvSpPr>
        <p:spPr>
          <a:xfrm>
            <a:off x="4663440" y="1097280"/>
            <a:ext cx="187452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3" name="Shape 10"/>
          <p:cNvSpPr/>
          <p:nvPr/>
        </p:nvSpPr>
        <p:spPr>
          <a:xfrm>
            <a:off x="4663440" y="1097280"/>
            <a:ext cx="1874520" cy="54864"/>
          </a:xfrm>
          <a:prstGeom prst="rect">
            <a:avLst/>
          </a:prstGeom>
          <a:solidFill>
            <a:srgbClr val="2C3E6B"/>
          </a:solidFill>
          <a:ln/>
        </p:spPr>
      </p:sp>
      <p:sp>
        <p:nvSpPr>
          <p:cNvPr id="14" name="Text 11"/>
          <p:cNvSpPr/>
          <p:nvPr/>
        </p:nvSpPr>
        <p:spPr>
          <a:xfrm>
            <a:off x="4663440" y="1280160"/>
            <a:ext cx="1874520" cy="457200"/>
          </a:xfrm>
          <a:prstGeom prst="rect">
            <a:avLst/>
          </a:prstGeom>
          <a:noFill/>
          <a:ln/>
        </p:spPr>
        <p:txBody>
          <a:bodyPr wrap="square" lIns="0" tIns="0" rIns="0" bIns="0" rtlCol="0" anchor="ctr"/>
          <a:lstStyle/>
          <a:p>
            <a:pPr algn="ctr" indent="0" marL="0">
              <a:buNone/>
            </a:pPr>
            <a:r>
              <a:rPr lang="en-US" sz="2800" b="1" dirty="0">
                <a:solidFill>
                  <a:srgbClr val="6B9FD4"/>
                </a:solidFill>
                <a:latin typeface="Georgia" pitchFamily="34" charset="0"/>
                <a:ea typeface="Georgia" pitchFamily="34" charset="-122"/>
                <a:cs typeface="Georgia" pitchFamily="34" charset="-120"/>
              </a:rPr>
              <a:t>02</a:t>
            </a:r>
            <a:endParaRPr lang="en-US" sz="2800" dirty="0"/>
          </a:p>
        </p:txBody>
      </p:sp>
      <p:sp>
        <p:nvSpPr>
          <p:cNvPr id="15" name="Shape 12"/>
          <p:cNvSpPr/>
          <p:nvPr/>
        </p:nvSpPr>
        <p:spPr>
          <a:xfrm>
            <a:off x="5280660" y="1828800"/>
            <a:ext cx="640080" cy="640080"/>
          </a:xfrm>
          <a:prstGeom prst="ellipse">
            <a:avLst/>
          </a:prstGeom>
          <a:solidFill>
            <a:srgbClr val="2C3E6B"/>
          </a:solidFill>
          <a:ln/>
        </p:spPr>
      </p:sp>
      <p:pic>
        <p:nvPicPr>
          <p:cNvPr id="16" name="Image 1" descr="preencoded.png">    </p:cNvPr>
          <p:cNvPicPr>
            <a:picLocks noChangeAspect="1"/>
          </p:cNvPicPr>
          <p:nvPr/>
        </p:nvPicPr>
        <p:blipFill>
          <a:blip r:embed="rId2"/>
          <a:stretch>
            <a:fillRect/>
          </a:stretch>
        </p:blipFill>
        <p:spPr>
          <a:xfrm>
            <a:off x="5394960" y="1938528"/>
            <a:ext cx="411480" cy="411480"/>
          </a:xfrm>
          <a:prstGeom prst="rect">
            <a:avLst/>
          </a:prstGeom>
        </p:spPr>
      </p:pic>
      <p:sp>
        <p:nvSpPr>
          <p:cNvPr id="17" name="Text 13"/>
          <p:cNvSpPr/>
          <p:nvPr/>
        </p:nvSpPr>
        <p:spPr>
          <a:xfrm>
            <a:off x="4754880" y="2606040"/>
            <a:ext cx="1691640" cy="365760"/>
          </a:xfrm>
          <a:prstGeom prst="rect">
            <a:avLst/>
          </a:prstGeom>
          <a:noFill/>
          <a:ln/>
        </p:spPr>
        <p:txBody>
          <a:bodyPr wrap="square" lIns="0" tIns="0" rIns="0" bIns="0" rtlCol="0" anchor="ctr"/>
          <a:lstStyle/>
          <a:p>
            <a:pPr rtl="1" algn="ctr" indent="0" marL="0">
              <a:buNone/>
            </a:pPr>
            <a:r>
              <a:rPr lang="ar-SA" altLang="en-US" sz="1400" b="1" dirty="0">
                <a:solidFill>
                  <a:srgbClr val="1A2332"/>
                </a:solidFill>
                <a:latin typeface="Calibri" pitchFamily="34" charset="0"/>
                <a:ea typeface="Calibri" pitchFamily="34" charset="-122"/>
                <a:cs typeface="Calibri" pitchFamily="34" charset="-120"/>
              </a:rPr>
              <a:t>تتبع الحركة</a:t>
            </a:r>
            <a:endParaRPr lang="ar-SA" sz="1400" dirty="0"/>
          </a:p>
        </p:txBody>
      </p:sp>
      <p:sp>
        <p:nvSpPr>
          <p:cNvPr id="18" name="Text 14"/>
          <p:cNvSpPr/>
          <p:nvPr/>
        </p:nvSpPr>
        <p:spPr>
          <a:xfrm>
            <a:off x="4800600" y="3017520"/>
            <a:ext cx="1600200" cy="1371600"/>
          </a:xfrm>
          <a:prstGeom prst="rect">
            <a:avLst/>
          </a:prstGeom>
          <a:noFill/>
          <a:ln/>
        </p:spPr>
        <p:txBody>
          <a:bodyPr wrap="square" rtlCol="0" anchor="ctr"/>
          <a:lstStyle/>
          <a:p>
            <a:pPr rtl="1" algn="ctr" indent="0" marL="0">
              <a:lnSpc>
                <a:spcPct val="120000"/>
              </a:lnSpc>
              <a:buNone/>
            </a:pPr>
            <a:r>
              <a:rPr lang="ar-SA" altLang="en-US" sz="1050" dirty="0">
                <a:solidFill>
                  <a:srgbClr val="64748B"/>
                </a:solidFill>
                <a:latin typeface="Calibri" pitchFamily="34" charset="0"/>
                <a:ea typeface="Calibri" pitchFamily="34" charset="-122"/>
                <a:cs typeface="Calibri" pitchFamily="34" charset="-120"/>
              </a:rPr>
              <a:t>متابعة حركة الموظف عبر الكاميرات داخل المنشأة باستخدام التتبع الذكي متعدد الكاميرات</a:t>
            </a:r>
            <a:endParaRPr lang="ar-SA" sz="1050" dirty="0"/>
          </a:p>
        </p:txBody>
      </p:sp>
      <p:sp>
        <p:nvSpPr>
          <p:cNvPr id="19" name="Shape 15"/>
          <p:cNvSpPr/>
          <p:nvPr/>
        </p:nvSpPr>
        <p:spPr>
          <a:xfrm>
            <a:off x="2606040" y="1097280"/>
            <a:ext cx="187452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20" name="Shape 16"/>
          <p:cNvSpPr/>
          <p:nvPr/>
        </p:nvSpPr>
        <p:spPr>
          <a:xfrm>
            <a:off x="2606040" y="1097280"/>
            <a:ext cx="1874520" cy="54864"/>
          </a:xfrm>
          <a:prstGeom prst="rect">
            <a:avLst/>
          </a:prstGeom>
          <a:solidFill>
            <a:srgbClr val="3B6CB4"/>
          </a:solidFill>
          <a:ln/>
        </p:spPr>
      </p:sp>
      <p:sp>
        <p:nvSpPr>
          <p:cNvPr id="21" name="Text 17"/>
          <p:cNvSpPr/>
          <p:nvPr/>
        </p:nvSpPr>
        <p:spPr>
          <a:xfrm>
            <a:off x="2606040" y="1280160"/>
            <a:ext cx="1874520" cy="457200"/>
          </a:xfrm>
          <a:prstGeom prst="rect">
            <a:avLst/>
          </a:prstGeom>
          <a:noFill/>
          <a:ln/>
        </p:spPr>
        <p:txBody>
          <a:bodyPr wrap="square" lIns="0" tIns="0" rIns="0" bIns="0" rtlCol="0" anchor="ctr"/>
          <a:lstStyle/>
          <a:p>
            <a:pPr algn="ctr" indent="0" marL="0">
              <a:buNone/>
            </a:pPr>
            <a:r>
              <a:rPr lang="en-US" sz="2800" b="1" dirty="0">
                <a:solidFill>
                  <a:srgbClr val="6B9FD4"/>
                </a:solidFill>
                <a:latin typeface="Georgia" pitchFamily="34" charset="0"/>
                <a:ea typeface="Georgia" pitchFamily="34" charset="-122"/>
                <a:cs typeface="Georgia" pitchFamily="34" charset="-120"/>
              </a:rPr>
              <a:t>03</a:t>
            </a:r>
            <a:endParaRPr lang="en-US" sz="2800" dirty="0"/>
          </a:p>
        </p:txBody>
      </p:sp>
      <p:sp>
        <p:nvSpPr>
          <p:cNvPr id="22" name="Shape 18"/>
          <p:cNvSpPr/>
          <p:nvPr/>
        </p:nvSpPr>
        <p:spPr>
          <a:xfrm>
            <a:off x="3223260" y="1828800"/>
            <a:ext cx="640080" cy="640080"/>
          </a:xfrm>
          <a:prstGeom prst="ellipse">
            <a:avLst/>
          </a:prstGeom>
          <a:solidFill>
            <a:srgbClr val="3B6CB4"/>
          </a:solidFill>
          <a:ln/>
        </p:spPr>
      </p:sp>
      <p:pic>
        <p:nvPicPr>
          <p:cNvPr id="23" name="Image 2" descr="preencoded.png">    </p:cNvPr>
          <p:cNvPicPr>
            <a:picLocks noChangeAspect="1"/>
          </p:cNvPicPr>
          <p:nvPr/>
        </p:nvPicPr>
        <p:blipFill>
          <a:blip r:embed="rId3"/>
          <a:stretch>
            <a:fillRect/>
          </a:stretch>
        </p:blipFill>
        <p:spPr>
          <a:xfrm>
            <a:off x="3337560" y="1938528"/>
            <a:ext cx="411480" cy="411480"/>
          </a:xfrm>
          <a:prstGeom prst="rect">
            <a:avLst/>
          </a:prstGeom>
        </p:spPr>
      </p:pic>
      <p:sp>
        <p:nvSpPr>
          <p:cNvPr id="24" name="Text 19"/>
          <p:cNvSpPr/>
          <p:nvPr/>
        </p:nvSpPr>
        <p:spPr>
          <a:xfrm>
            <a:off x="2697480" y="2606040"/>
            <a:ext cx="1691640" cy="365760"/>
          </a:xfrm>
          <a:prstGeom prst="rect">
            <a:avLst/>
          </a:prstGeom>
          <a:noFill/>
          <a:ln/>
        </p:spPr>
        <p:txBody>
          <a:bodyPr wrap="square" lIns="0" tIns="0" rIns="0" bIns="0" rtlCol="0" anchor="ctr"/>
          <a:lstStyle/>
          <a:p>
            <a:pPr rtl="1" algn="ctr" indent="0" marL="0">
              <a:buNone/>
            </a:pPr>
            <a:r>
              <a:rPr lang="ar-SA" altLang="en-US" sz="1400" b="1" dirty="0">
                <a:solidFill>
                  <a:srgbClr val="1A2332"/>
                </a:solidFill>
                <a:latin typeface="Calibri" pitchFamily="34" charset="0"/>
                <a:ea typeface="Calibri" pitchFamily="34" charset="-122"/>
                <a:cs typeface="Calibri" pitchFamily="34" charset="-120"/>
              </a:rPr>
              <a:t>تحليل التواجد</a:t>
            </a:r>
            <a:endParaRPr lang="ar-SA" sz="1400" dirty="0"/>
          </a:p>
        </p:txBody>
      </p:sp>
      <p:sp>
        <p:nvSpPr>
          <p:cNvPr id="25" name="Text 20"/>
          <p:cNvSpPr/>
          <p:nvPr/>
        </p:nvSpPr>
        <p:spPr>
          <a:xfrm>
            <a:off x="2743200" y="3017520"/>
            <a:ext cx="1600200" cy="1371600"/>
          </a:xfrm>
          <a:prstGeom prst="rect">
            <a:avLst/>
          </a:prstGeom>
          <a:noFill/>
          <a:ln/>
        </p:spPr>
        <p:txBody>
          <a:bodyPr wrap="square" rtlCol="0" anchor="ctr"/>
          <a:lstStyle/>
          <a:p>
            <a:pPr rtl="1" algn="ctr" indent="0" marL="0">
              <a:lnSpc>
                <a:spcPct val="120000"/>
              </a:lnSpc>
              <a:buNone/>
            </a:pPr>
            <a:r>
              <a:rPr lang="ar-SA" altLang="en-US" sz="1050" dirty="0">
                <a:solidFill>
                  <a:srgbClr val="64748B"/>
                </a:solidFill>
                <a:latin typeface="Calibri" pitchFamily="34" charset="0"/>
                <a:ea typeface="Calibri" pitchFamily="34" charset="-122"/>
                <a:cs typeface="Calibri" pitchFamily="34" charset="-120"/>
              </a:rPr>
              <a:t>تحديد ما إذا كان الموظف متواجداً في مكتبه باستخدام تقنيات كشف الأجسام وتتبع البشر</a:t>
            </a:r>
            <a:endParaRPr lang="ar-SA" sz="1050" dirty="0"/>
          </a:p>
        </p:txBody>
      </p:sp>
      <p:sp>
        <p:nvSpPr>
          <p:cNvPr id="26" name="Shape 21"/>
          <p:cNvSpPr/>
          <p:nvPr/>
        </p:nvSpPr>
        <p:spPr>
          <a:xfrm>
            <a:off x="548640" y="1097280"/>
            <a:ext cx="187452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27" name="Shape 22"/>
          <p:cNvSpPr/>
          <p:nvPr/>
        </p:nvSpPr>
        <p:spPr>
          <a:xfrm>
            <a:off x="548640" y="1097280"/>
            <a:ext cx="1874520" cy="54864"/>
          </a:xfrm>
          <a:prstGeom prst="rect">
            <a:avLst/>
          </a:prstGeom>
          <a:solidFill>
            <a:srgbClr val="2C3E6B"/>
          </a:solidFill>
          <a:ln/>
        </p:spPr>
      </p:sp>
      <p:sp>
        <p:nvSpPr>
          <p:cNvPr id="28" name="Text 23"/>
          <p:cNvSpPr/>
          <p:nvPr/>
        </p:nvSpPr>
        <p:spPr>
          <a:xfrm>
            <a:off x="548640" y="1280160"/>
            <a:ext cx="1874520" cy="457200"/>
          </a:xfrm>
          <a:prstGeom prst="rect">
            <a:avLst/>
          </a:prstGeom>
          <a:noFill/>
          <a:ln/>
        </p:spPr>
        <p:txBody>
          <a:bodyPr wrap="square" lIns="0" tIns="0" rIns="0" bIns="0" rtlCol="0" anchor="ctr"/>
          <a:lstStyle/>
          <a:p>
            <a:pPr algn="ctr" indent="0" marL="0">
              <a:buNone/>
            </a:pPr>
            <a:r>
              <a:rPr lang="en-US" sz="2800" b="1" dirty="0">
                <a:solidFill>
                  <a:srgbClr val="6B9FD4"/>
                </a:solidFill>
                <a:latin typeface="Georgia" pitchFamily="34" charset="0"/>
                <a:ea typeface="Georgia" pitchFamily="34" charset="-122"/>
                <a:cs typeface="Georgia" pitchFamily="34" charset="-120"/>
              </a:rPr>
              <a:t>04</a:t>
            </a:r>
            <a:endParaRPr lang="en-US" sz="2800" dirty="0"/>
          </a:p>
        </p:txBody>
      </p:sp>
      <p:sp>
        <p:nvSpPr>
          <p:cNvPr id="29" name="Shape 24"/>
          <p:cNvSpPr/>
          <p:nvPr/>
        </p:nvSpPr>
        <p:spPr>
          <a:xfrm>
            <a:off x="1165860" y="1828800"/>
            <a:ext cx="640080" cy="640080"/>
          </a:xfrm>
          <a:prstGeom prst="ellipse">
            <a:avLst/>
          </a:prstGeom>
          <a:solidFill>
            <a:srgbClr val="2C3E6B"/>
          </a:solidFill>
          <a:ln/>
        </p:spPr>
      </p:sp>
      <p:pic>
        <p:nvPicPr>
          <p:cNvPr id="30" name="Image 3" descr="preencoded.png">    </p:cNvPr>
          <p:cNvPicPr>
            <a:picLocks noChangeAspect="1"/>
          </p:cNvPicPr>
          <p:nvPr/>
        </p:nvPicPr>
        <p:blipFill>
          <a:blip r:embed="rId4"/>
          <a:stretch>
            <a:fillRect/>
          </a:stretch>
        </p:blipFill>
        <p:spPr>
          <a:xfrm>
            <a:off x="1280160" y="1938528"/>
            <a:ext cx="411480" cy="411480"/>
          </a:xfrm>
          <a:prstGeom prst="rect">
            <a:avLst/>
          </a:prstGeom>
        </p:spPr>
      </p:pic>
      <p:sp>
        <p:nvSpPr>
          <p:cNvPr id="31" name="Text 25"/>
          <p:cNvSpPr/>
          <p:nvPr/>
        </p:nvSpPr>
        <p:spPr>
          <a:xfrm>
            <a:off x="640080" y="2606040"/>
            <a:ext cx="1691640" cy="365760"/>
          </a:xfrm>
          <a:prstGeom prst="rect">
            <a:avLst/>
          </a:prstGeom>
          <a:noFill/>
          <a:ln/>
        </p:spPr>
        <p:txBody>
          <a:bodyPr wrap="square" lIns="0" tIns="0" rIns="0" bIns="0" rtlCol="0" anchor="ctr"/>
          <a:lstStyle/>
          <a:p>
            <a:pPr rtl="1" algn="ctr" indent="0" marL="0">
              <a:buNone/>
            </a:pPr>
            <a:r>
              <a:rPr lang="ar-SA" altLang="en-US" sz="1400" b="1" dirty="0">
                <a:solidFill>
                  <a:srgbClr val="1A2332"/>
                </a:solidFill>
                <a:latin typeface="Calibri" pitchFamily="34" charset="0"/>
                <a:ea typeface="Calibri" pitchFamily="34" charset="-122"/>
                <a:cs typeface="Calibri" pitchFamily="34" charset="-120"/>
              </a:rPr>
              <a:t>اكتشاف المجهولين</a:t>
            </a:r>
            <a:endParaRPr lang="ar-SA" sz="1400" dirty="0"/>
          </a:p>
        </p:txBody>
      </p:sp>
      <p:sp>
        <p:nvSpPr>
          <p:cNvPr id="32" name="Text 26"/>
          <p:cNvSpPr/>
          <p:nvPr/>
        </p:nvSpPr>
        <p:spPr>
          <a:xfrm>
            <a:off x="685800" y="3017520"/>
            <a:ext cx="1600200" cy="1371600"/>
          </a:xfrm>
          <a:prstGeom prst="rect">
            <a:avLst/>
          </a:prstGeom>
          <a:noFill/>
          <a:ln/>
        </p:spPr>
        <p:txBody>
          <a:bodyPr wrap="square" rtlCol="0" anchor="ctr"/>
          <a:lstStyle/>
          <a:p>
            <a:pPr rtl="1" algn="ctr" indent="0" marL="0">
              <a:lnSpc>
                <a:spcPct val="120000"/>
              </a:lnSpc>
              <a:buNone/>
            </a:pPr>
            <a:r>
              <a:rPr lang="ar-SA" altLang="en-US" sz="1050" dirty="0">
                <a:solidFill>
                  <a:srgbClr val="64748B"/>
                </a:solidFill>
                <a:latin typeface="Calibri" pitchFamily="34" charset="0"/>
                <a:ea typeface="Calibri" pitchFamily="34" charset="-122"/>
                <a:cs typeface="Calibri" pitchFamily="34" charset="-120"/>
              </a:rPr>
              <a:t>تصنيف الأشخاص غير المسجلين ضمن فئة Unknown Persons وإرسال تنبيهات</a:t>
            </a:r>
            <a:endParaRPr lang="ar-SA" sz="1050" dirty="0"/>
          </a:p>
        </p:txBody>
      </p:sp>
      <p:sp>
        <p:nvSpPr>
          <p:cNvPr id="33" name="Shape 27"/>
          <p:cNvSpPr/>
          <p:nvPr/>
        </p:nvSpPr>
        <p:spPr>
          <a:xfrm>
            <a:off x="0" y="4892040"/>
            <a:ext cx="9144000" cy="256032"/>
          </a:xfrm>
          <a:prstGeom prst="rect">
            <a:avLst/>
          </a:prstGeom>
          <a:solidFill>
            <a:srgbClr val="1A2332"/>
          </a:solidFill>
          <a:ln/>
        </p:spPr>
      </p:sp>
      <p:sp>
        <p:nvSpPr>
          <p:cNvPr id="34" name="Text 28"/>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640080"/>
          </a:xfrm>
          <a:prstGeom prst="rect">
            <a:avLst/>
          </a:prstGeom>
          <a:noFill/>
          <a:ln/>
        </p:spPr>
        <p:txBody>
          <a:bodyPr wrap="square" lIns="0" tIns="0" rIns="0" bIns="0" rtlCol="0" anchor="ctr"/>
          <a:lstStyle/>
          <a:p>
            <a:pPr rtl="1" algn="r" indent="0" marL="0">
              <a:buNone/>
            </a:pPr>
            <a:r>
              <a:rPr lang="ar-SA" altLang="en-US" sz="3000" b="1" dirty="0">
                <a:solidFill>
                  <a:srgbClr val="1A2332"/>
                </a:solidFill>
                <a:latin typeface="Georgia" pitchFamily="34" charset="0"/>
                <a:ea typeface="Georgia" pitchFamily="34" charset="-122"/>
                <a:cs typeface="Georgia" pitchFamily="34" charset="-120"/>
              </a:rPr>
              <a:t>المفاهيم الأساسية - التعرف على الوجه</a:t>
            </a:r>
            <a:endParaRPr lang="ar-SA" sz="3000" dirty="0"/>
          </a:p>
        </p:txBody>
      </p:sp>
      <p:sp>
        <p:nvSpPr>
          <p:cNvPr id="5" name="Shape 3"/>
          <p:cNvSpPr/>
          <p:nvPr/>
        </p:nvSpPr>
        <p:spPr>
          <a:xfrm>
            <a:off x="457200" y="1051560"/>
            <a:ext cx="8229600" cy="731520"/>
          </a:xfrm>
          <a:prstGeom prst="rect">
            <a:avLst/>
          </a:prstGeom>
          <a:solidFill>
            <a:srgbClr val="D6E5F3">
              <a:alpha val="70000"/>
            </a:srgbClr>
          </a:solidFill>
          <a:ln/>
        </p:spPr>
      </p:sp>
      <p:sp>
        <p:nvSpPr>
          <p:cNvPr id="6" name="Text 4"/>
          <p:cNvSpPr/>
          <p:nvPr/>
        </p:nvSpPr>
        <p:spPr>
          <a:xfrm>
            <a:off x="731520" y="1097280"/>
            <a:ext cx="7680960" cy="640080"/>
          </a:xfrm>
          <a:prstGeom prst="rect">
            <a:avLst/>
          </a:prstGeom>
          <a:noFill/>
          <a:ln/>
        </p:spPr>
        <p:txBody>
          <a:bodyPr wrap="square" rtlCol="0" anchor="ctr"/>
          <a:lstStyle/>
          <a:p>
            <a:pPr rtl="1" algn="r" indent="0" marL="0">
              <a:buNone/>
            </a:pPr>
            <a:r>
              <a:rPr lang="ar-SA" altLang="en-US" sz="1400" dirty="0">
                <a:solidFill>
                  <a:srgbClr val="1A2332"/>
                </a:solidFill>
                <a:latin typeface="Calibri" pitchFamily="34" charset="0"/>
                <a:ea typeface="Calibri" pitchFamily="34" charset="-122"/>
                <a:cs typeface="Calibri" pitchFamily="34" charset="-120"/>
              </a:rPr>
              <a:t>تقنية تهدف إلى تحديد هوية الشخص من خلال ملامح وجهه باستخدام نماذج التعلم العميق (Deep Learning)</a:t>
            </a:r>
            <a:endParaRPr lang="ar-SA" sz="1400" dirty="0"/>
          </a:p>
        </p:txBody>
      </p:sp>
      <p:sp>
        <p:nvSpPr>
          <p:cNvPr id="7" name="Shape 5"/>
          <p:cNvSpPr/>
          <p:nvPr/>
        </p:nvSpPr>
        <p:spPr>
          <a:xfrm>
            <a:off x="6035040" y="1965960"/>
            <a:ext cx="2651760" cy="256032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8" name="Shape 6"/>
          <p:cNvSpPr/>
          <p:nvPr/>
        </p:nvSpPr>
        <p:spPr>
          <a:xfrm>
            <a:off x="8631936" y="1965960"/>
            <a:ext cx="54864" cy="2560320"/>
          </a:xfrm>
          <a:prstGeom prst="rect">
            <a:avLst/>
          </a:prstGeom>
          <a:solidFill>
            <a:srgbClr val="3B6CB4"/>
          </a:solidFill>
          <a:ln/>
        </p:spPr>
      </p:sp>
      <p:sp>
        <p:nvSpPr>
          <p:cNvPr id="9" name="Text 7"/>
          <p:cNvSpPr/>
          <p:nvPr/>
        </p:nvSpPr>
        <p:spPr>
          <a:xfrm>
            <a:off x="6217920" y="2103120"/>
            <a:ext cx="2286000" cy="365760"/>
          </a:xfrm>
          <a:prstGeom prst="rect">
            <a:avLst/>
          </a:prstGeom>
          <a:noFill/>
          <a:ln/>
        </p:spPr>
        <p:txBody>
          <a:bodyPr wrap="square" lIns="0" tIns="0" rIns="0" bIns="0" rtlCol="0" anchor="ctr"/>
          <a:lstStyle/>
          <a:p>
            <a:pPr rtl="1" algn="r" indent="0" marL="0">
              <a:buNone/>
            </a:pPr>
            <a:r>
              <a:rPr lang="ar-SA" altLang="en-US" sz="1500" b="1" dirty="0">
                <a:solidFill>
                  <a:srgbClr val="2C3E6B"/>
                </a:solidFill>
                <a:latin typeface="Calibri" pitchFamily="34" charset="0"/>
                <a:ea typeface="Calibri" pitchFamily="34" charset="-122"/>
                <a:cs typeface="Calibri" pitchFamily="34" charset="-120"/>
              </a:rPr>
              <a:t>كيف تعمل؟</a:t>
            </a:r>
            <a:endParaRPr lang="ar-SA" sz="1500" dirty="0"/>
          </a:p>
        </p:txBody>
      </p:sp>
      <p:sp>
        <p:nvSpPr>
          <p:cNvPr id="10" name="Text 8"/>
          <p:cNvSpPr/>
          <p:nvPr/>
        </p:nvSpPr>
        <p:spPr>
          <a:xfrm>
            <a:off x="6217920" y="2560320"/>
            <a:ext cx="2286000" cy="1645920"/>
          </a:xfrm>
          <a:prstGeom prst="rect">
            <a:avLst/>
          </a:prstGeom>
          <a:noFill/>
          <a:ln/>
        </p:spPr>
        <p:txBody>
          <a:bodyPr wrap="square" rtlCol="0" anchor="ctr"/>
          <a:lstStyle/>
          <a:p>
            <a:pPr algn="r" marL="342900" indent="-342900">
              <a:spcAft>
                <a:spcPts val="800"/>
              </a:spcAft>
              <a:buSzPct val="100000"/>
              <a:buChar char="•"/>
            </a:pPr>
            <a:r>
              <a:rPr lang="ar-SA" altLang="en-US" sz="1100" dirty="0">
                <a:solidFill>
                  <a:srgbClr val="334155"/>
                </a:solidFill>
                <a:latin typeface="Calibri" pitchFamily="34" charset="0"/>
                <a:ea typeface="Calibri" pitchFamily="34" charset="-122"/>
                <a:cs typeface="Calibri" pitchFamily="34" charset="-120"/>
              </a:rPr>
              <a:t>استخراج ملامح الوجه (Features)</a:t>
            </a:r>
            <a:endParaRPr lang="ar-SA" sz="1100" dirty="0"/>
          </a:p>
          <a:p>
            <a:pPr algn="r" marL="342900" indent="-342900">
              <a:spcAft>
                <a:spcPts val="800"/>
              </a:spcAft>
              <a:buSzPct val="100000"/>
              <a:buChar char="•"/>
            </a:pPr>
            <a:r>
              <a:rPr lang="ar-SA" altLang="en-US" sz="1100" dirty="0">
                <a:solidFill>
                  <a:srgbClr val="334155"/>
                </a:solidFill>
                <a:latin typeface="Calibri" pitchFamily="34" charset="0"/>
                <a:ea typeface="Calibri" pitchFamily="34" charset="-122"/>
                <a:cs typeface="Calibri" pitchFamily="34" charset="-120"/>
              </a:rPr>
              <a:t>تحويلها إلى Embedding رقمي</a:t>
            </a:r>
            <a:endParaRPr lang="ar-SA" sz="1100" dirty="0"/>
          </a:p>
          <a:p>
            <a:pPr algn="r" marL="342900" indent="-342900">
              <a:buSzPct val="100000"/>
              <a:buChar char="•"/>
            </a:pPr>
            <a:r>
              <a:rPr lang="ar-SA" altLang="en-US" sz="1100" dirty="0">
                <a:solidFill>
                  <a:srgbClr val="334155"/>
                </a:solidFill>
                <a:latin typeface="Calibri" pitchFamily="34" charset="0"/>
                <a:ea typeface="Calibri" pitchFamily="34" charset="-122"/>
                <a:cs typeface="Calibri" pitchFamily="34" charset="-120"/>
              </a:rPr>
              <a:t>مقارنتها مع قاعدة البيانات</a:t>
            </a:r>
            <a:endParaRPr lang="ar-SA" sz="1100" dirty="0"/>
          </a:p>
        </p:txBody>
      </p:sp>
      <p:sp>
        <p:nvSpPr>
          <p:cNvPr id="11" name="Shape 9"/>
          <p:cNvSpPr/>
          <p:nvPr/>
        </p:nvSpPr>
        <p:spPr>
          <a:xfrm>
            <a:off x="3200400" y="1965960"/>
            <a:ext cx="2651760" cy="256032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2" name="Shape 10"/>
          <p:cNvSpPr/>
          <p:nvPr/>
        </p:nvSpPr>
        <p:spPr>
          <a:xfrm>
            <a:off x="5797296" y="1965960"/>
            <a:ext cx="54864" cy="2560320"/>
          </a:xfrm>
          <a:prstGeom prst="rect">
            <a:avLst/>
          </a:prstGeom>
          <a:solidFill>
            <a:srgbClr val="22C55E"/>
          </a:solidFill>
          <a:ln/>
        </p:spPr>
      </p:sp>
      <p:sp>
        <p:nvSpPr>
          <p:cNvPr id="13" name="Text 11"/>
          <p:cNvSpPr/>
          <p:nvPr/>
        </p:nvSpPr>
        <p:spPr>
          <a:xfrm>
            <a:off x="3383280" y="2103120"/>
            <a:ext cx="2286000" cy="365760"/>
          </a:xfrm>
          <a:prstGeom prst="rect">
            <a:avLst/>
          </a:prstGeom>
          <a:noFill/>
          <a:ln/>
        </p:spPr>
        <p:txBody>
          <a:bodyPr wrap="square" lIns="0" tIns="0" rIns="0" bIns="0" rtlCol="0" anchor="ctr"/>
          <a:lstStyle/>
          <a:p>
            <a:pPr rtl="1" algn="r" indent="0" marL="0">
              <a:buNone/>
            </a:pPr>
            <a:r>
              <a:rPr lang="ar-SA" altLang="en-US" sz="1500" b="1" dirty="0">
                <a:solidFill>
                  <a:srgbClr val="16A34A"/>
                </a:solidFill>
                <a:latin typeface="Calibri" pitchFamily="34" charset="0"/>
                <a:ea typeface="Calibri" pitchFamily="34" charset="-122"/>
                <a:cs typeface="Calibri" pitchFamily="34" charset="-120"/>
              </a:rPr>
              <a:t>الإيجابيات</a:t>
            </a:r>
            <a:endParaRPr lang="ar-SA" sz="1500" dirty="0"/>
          </a:p>
        </p:txBody>
      </p:sp>
      <p:sp>
        <p:nvSpPr>
          <p:cNvPr id="14" name="Text 12"/>
          <p:cNvSpPr/>
          <p:nvPr/>
        </p:nvSpPr>
        <p:spPr>
          <a:xfrm>
            <a:off x="3383280" y="2560320"/>
            <a:ext cx="2286000" cy="1645920"/>
          </a:xfrm>
          <a:prstGeom prst="rect">
            <a:avLst/>
          </a:prstGeom>
          <a:noFill/>
          <a:ln/>
        </p:spPr>
        <p:txBody>
          <a:bodyPr wrap="square" rtlCol="0" anchor="ctr"/>
          <a:lstStyle/>
          <a:p>
            <a:pPr algn="r" marL="342900" indent="-342900">
              <a:spcAft>
                <a:spcPts val="800"/>
              </a:spcAft>
              <a:buSzPct val="100000"/>
              <a:buChar char="•"/>
            </a:pPr>
            <a:r>
              <a:rPr lang="ar-SA" altLang="en-US" sz="1100" dirty="0">
                <a:solidFill>
                  <a:srgbClr val="334155"/>
                </a:solidFill>
                <a:latin typeface="Calibri" pitchFamily="34" charset="0"/>
                <a:ea typeface="Calibri" pitchFamily="34" charset="-122"/>
                <a:cs typeface="Calibri" pitchFamily="34" charset="-120"/>
              </a:rPr>
              <a:t>دقة عالية جداً في تحديد الهوية</a:t>
            </a:r>
            <a:endParaRPr lang="ar-SA" sz="1100" dirty="0"/>
          </a:p>
          <a:p>
            <a:pPr algn="r" marL="342900" indent="-342900">
              <a:spcAft>
                <a:spcPts val="800"/>
              </a:spcAft>
              <a:buSzPct val="100000"/>
              <a:buChar char="•"/>
            </a:pPr>
            <a:r>
              <a:rPr lang="ar-SA" altLang="en-US" sz="1100" dirty="0">
                <a:solidFill>
                  <a:srgbClr val="334155"/>
                </a:solidFill>
                <a:latin typeface="Calibri" pitchFamily="34" charset="0"/>
                <a:ea typeface="Calibri" pitchFamily="34" charset="-122"/>
                <a:cs typeface="Calibri" pitchFamily="34" charset="-120"/>
              </a:rPr>
              <a:t>مناسبة للأنظمة الأمنية</a:t>
            </a:r>
            <a:endParaRPr lang="ar-SA" sz="1100" dirty="0"/>
          </a:p>
          <a:p>
            <a:pPr algn="r" marL="342900" indent="-342900">
              <a:buSzPct val="100000"/>
              <a:buChar char="•"/>
            </a:pPr>
            <a:r>
              <a:rPr lang="ar-SA" altLang="en-US" sz="1100" dirty="0">
                <a:solidFill>
                  <a:srgbClr val="334155"/>
                </a:solidFill>
                <a:latin typeface="Calibri" pitchFamily="34" charset="0"/>
                <a:ea typeface="Calibri" pitchFamily="34" charset="-122"/>
                <a:cs typeface="Calibri" pitchFamily="34" charset="-120"/>
              </a:rPr>
              <a:t>أكثر أماناً من البطاقات وكلمات المرور</a:t>
            </a:r>
            <a:endParaRPr lang="ar-SA" sz="1100" dirty="0"/>
          </a:p>
        </p:txBody>
      </p:sp>
      <p:sp>
        <p:nvSpPr>
          <p:cNvPr id="15" name="Shape 13"/>
          <p:cNvSpPr/>
          <p:nvPr/>
        </p:nvSpPr>
        <p:spPr>
          <a:xfrm>
            <a:off x="457200" y="1965960"/>
            <a:ext cx="2560320" cy="256032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6" name="Shape 14"/>
          <p:cNvSpPr/>
          <p:nvPr/>
        </p:nvSpPr>
        <p:spPr>
          <a:xfrm>
            <a:off x="2962656" y="1965960"/>
            <a:ext cx="54864" cy="2560320"/>
          </a:xfrm>
          <a:prstGeom prst="rect">
            <a:avLst/>
          </a:prstGeom>
          <a:solidFill>
            <a:srgbClr val="EF4444"/>
          </a:solidFill>
          <a:ln/>
        </p:spPr>
      </p:sp>
      <p:sp>
        <p:nvSpPr>
          <p:cNvPr id="17" name="Text 15"/>
          <p:cNvSpPr/>
          <p:nvPr/>
        </p:nvSpPr>
        <p:spPr>
          <a:xfrm>
            <a:off x="640080" y="2103120"/>
            <a:ext cx="2194560" cy="365760"/>
          </a:xfrm>
          <a:prstGeom prst="rect">
            <a:avLst/>
          </a:prstGeom>
          <a:noFill/>
          <a:ln/>
        </p:spPr>
        <p:txBody>
          <a:bodyPr wrap="square" lIns="0" tIns="0" rIns="0" bIns="0" rtlCol="0" anchor="ctr"/>
          <a:lstStyle/>
          <a:p>
            <a:pPr rtl="1" algn="r" indent="0" marL="0">
              <a:buNone/>
            </a:pPr>
            <a:r>
              <a:rPr lang="ar-SA" altLang="en-US" sz="1500" b="1" dirty="0">
                <a:solidFill>
                  <a:srgbClr val="DC2626"/>
                </a:solidFill>
                <a:latin typeface="Calibri" pitchFamily="34" charset="0"/>
                <a:ea typeface="Calibri" pitchFamily="34" charset="-122"/>
                <a:cs typeface="Calibri" pitchFamily="34" charset="-120"/>
              </a:rPr>
              <a:t>السلبيات</a:t>
            </a:r>
            <a:endParaRPr lang="ar-SA" sz="1500" dirty="0"/>
          </a:p>
        </p:txBody>
      </p:sp>
      <p:sp>
        <p:nvSpPr>
          <p:cNvPr id="18" name="Text 16"/>
          <p:cNvSpPr/>
          <p:nvPr/>
        </p:nvSpPr>
        <p:spPr>
          <a:xfrm>
            <a:off x="640080" y="2560320"/>
            <a:ext cx="2194560" cy="1371600"/>
          </a:xfrm>
          <a:prstGeom prst="rect">
            <a:avLst/>
          </a:prstGeom>
          <a:noFill/>
          <a:ln/>
        </p:spPr>
        <p:txBody>
          <a:bodyPr wrap="square" rtlCol="0" anchor="ctr"/>
          <a:lstStyle/>
          <a:p>
            <a:pPr algn="r" marL="342900" indent="-342900">
              <a:spcAft>
                <a:spcPts val="800"/>
              </a:spcAft>
              <a:buSzPct val="100000"/>
              <a:buChar char="•"/>
            </a:pPr>
            <a:r>
              <a:rPr lang="ar-SA" altLang="en-US" sz="1100" dirty="0">
                <a:solidFill>
                  <a:srgbClr val="334155"/>
                </a:solidFill>
                <a:latin typeface="Calibri" pitchFamily="34" charset="0"/>
                <a:ea typeface="Calibri" pitchFamily="34" charset="-122"/>
                <a:cs typeface="Calibri" pitchFamily="34" charset="-120"/>
              </a:rPr>
              <a:t>تتأثر بالإضاءة والزوايا</a:t>
            </a:r>
            <a:endParaRPr lang="ar-SA" sz="1100" dirty="0"/>
          </a:p>
          <a:p>
            <a:pPr algn="r" marL="342900" indent="-342900">
              <a:buSzPct val="100000"/>
              <a:buChar char="•"/>
            </a:pPr>
            <a:r>
              <a:rPr lang="ar-SA" altLang="en-US" sz="1100" dirty="0">
                <a:solidFill>
                  <a:srgbClr val="334155"/>
                </a:solidFill>
                <a:latin typeface="Calibri" pitchFamily="34" charset="0"/>
                <a:ea typeface="Calibri" pitchFamily="34" charset="-122"/>
                <a:cs typeface="Calibri" pitchFamily="34" charset="-120"/>
              </a:rPr>
              <a:t>تحتاج بيانات تدريب قوية</a:t>
            </a:r>
            <a:endParaRPr lang="ar-SA" sz="1100" dirty="0"/>
          </a:p>
        </p:txBody>
      </p:sp>
      <p:sp>
        <p:nvSpPr>
          <p:cNvPr id="19" name="Shape 17"/>
          <p:cNvSpPr/>
          <p:nvPr/>
        </p:nvSpPr>
        <p:spPr>
          <a:xfrm>
            <a:off x="0" y="4892040"/>
            <a:ext cx="9144000" cy="256032"/>
          </a:xfrm>
          <a:prstGeom prst="rect">
            <a:avLst/>
          </a:prstGeom>
          <a:solidFill>
            <a:srgbClr val="1A2332"/>
          </a:solidFill>
          <a:ln/>
        </p:spPr>
      </p:sp>
      <p:sp>
        <p:nvSpPr>
          <p:cNvPr id="20" name="Text 18"/>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0" y="0"/>
            <a:ext cx="109728" cy="5143500"/>
          </a:xfrm>
          <a:prstGeom prst="rect">
            <a:avLst/>
          </a:prstGeom>
          <a:solidFill>
            <a:srgbClr val="3B6CB4"/>
          </a:solidFill>
          <a:ln/>
        </p:spPr>
      </p:sp>
      <p:sp>
        <p:nvSpPr>
          <p:cNvPr id="4" name="Text 2"/>
          <p:cNvSpPr/>
          <p:nvPr/>
        </p:nvSpPr>
        <p:spPr>
          <a:xfrm>
            <a:off x="457200" y="274320"/>
            <a:ext cx="8229600" cy="640080"/>
          </a:xfrm>
          <a:prstGeom prst="rect">
            <a:avLst/>
          </a:prstGeom>
          <a:noFill/>
          <a:ln/>
        </p:spPr>
        <p:txBody>
          <a:bodyPr wrap="square" lIns="0" tIns="0" rIns="0" bIns="0" rtlCol="0" anchor="ctr"/>
          <a:lstStyle/>
          <a:p>
            <a:pPr rtl="1" algn="r" indent="0" marL="0">
              <a:buNone/>
            </a:pPr>
            <a:r>
              <a:rPr lang="ar-SA" altLang="en-US" sz="3400" b="1" dirty="0">
                <a:solidFill>
                  <a:srgbClr val="1A2332"/>
                </a:solidFill>
                <a:latin typeface="Georgia" pitchFamily="34" charset="0"/>
                <a:ea typeface="Georgia" pitchFamily="34" charset="-122"/>
                <a:cs typeface="Georgia" pitchFamily="34" charset="-120"/>
              </a:rPr>
              <a:t>الخوارزميات المستخدمة</a:t>
            </a:r>
            <a:endParaRPr lang="ar-SA" sz="3400" dirty="0"/>
          </a:p>
        </p:txBody>
      </p:sp>
      <p:sp>
        <p:nvSpPr>
          <p:cNvPr id="5" name="Shape 3"/>
          <p:cNvSpPr/>
          <p:nvPr/>
        </p:nvSpPr>
        <p:spPr>
          <a:xfrm>
            <a:off x="6057900" y="1051560"/>
            <a:ext cx="2606040" cy="36576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6" name="Shape 4"/>
          <p:cNvSpPr/>
          <p:nvPr/>
        </p:nvSpPr>
        <p:spPr>
          <a:xfrm>
            <a:off x="6057900" y="1051560"/>
            <a:ext cx="2606040" cy="54864"/>
          </a:xfrm>
          <a:prstGeom prst="rect">
            <a:avLst/>
          </a:prstGeom>
          <a:solidFill>
            <a:srgbClr val="3B6CB4"/>
          </a:solidFill>
          <a:ln/>
        </p:spPr>
      </p:sp>
      <p:sp>
        <p:nvSpPr>
          <p:cNvPr id="7" name="Text 5"/>
          <p:cNvSpPr/>
          <p:nvPr/>
        </p:nvSpPr>
        <p:spPr>
          <a:xfrm>
            <a:off x="6057900" y="1234440"/>
            <a:ext cx="2606040" cy="457200"/>
          </a:xfrm>
          <a:prstGeom prst="rect">
            <a:avLst/>
          </a:prstGeom>
          <a:noFill/>
          <a:ln/>
        </p:spPr>
        <p:txBody>
          <a:bodyPr wrap="square" lIns="0" tIns="0" rIns="0" bIns="0" rtlCol="0" anchor="ctr"/>
          <a:lstStyle/>
          <a:p>
            <a:pPr algn="ctr" indent="0" marL="0">
              <a:buNone/>
            </a:pPr>
            <a:r>
              <a:rPr lang="en-US" sz="2200" b="1" dirty="0">
                <a:solidFill>
                  <a:srgbClr val="1A2332"/>
                </a:solidFill>
                <a:latin typeface="Georgia" pitchFamily="34" charset="0"/>
                <a:ea typeface="Georgia" pitchFamily="34" charset="-122"/>
                <a:cs typeface="Georgia" pitchFamily="34" charset="-120"/>
              </a:rPr>
              <a:t>FaceNet</a:t>
            </a:r>
            <a:endParaRPr lang="en-US" sz="2200" dirty="0"/>
          </a:p>
        </p:txBody>
      </p:sp>
      <p:sp>
        <p:nvSpPr>
          <p:cNvPr id="8" name="Text 6"/>
          <p:cNvSpPr/>
          <p:nvPr/>
        </p:nvSpPr>
        <p:spPr>
          <a:xfrm>
            <a:off x="6057900" y="1645920"/>
            <a:ext cx="2606040" cy="32004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Google, 2015</a:t>
            </a:r>
            <a:endParaRPr lang="en-US" sz="1000" dirty="0"/>
          </a:p>
        </p:txBody>
      </p:sp>
      <p:sp>
        <p:nvSpPr>
          <p:cNvPr id="9" name="Shape 7"/>
          <p:cNvSpPr/>
          <p:nvPr/>
        </p:nvSpPr>
        <p:spPr>
          <a:xfrm>
            <a:off x="6537960" y="2057400"/>
            <a:ext cx="1645920" cy="640080"/>
          </a:xfrm>
          <a:prstGeom prst="rect">
            <a:avLst/>
          </a:prstGeom>
          <a:solidFill>
            <a:srgbClr val="3B6CB4">
              <a:alpha val="10000"/>
            </a:srgbClr>
          </a:solidFill>
          <a:ln/>
        </p:spPr>
      </p:sp>
      <p:sp>
        <p:nvSpPr>
          <p:cNvPr id="10" name="Text 8"/>
          <p:cNvSpPr/>
          <p:nvPr/>
        </p:nvSpPr>
        <p:spPr>
          <a:xfrm>
            <a:off x="6057900" y="2057400"/>
            <a:ext cx="2606040" cy="640080"/>
          </a:xfrm>
          <a:prstGeom prst="rect">
            <a:avLst/>
          </a:prstGeom>
          <a:noFill/>
          <a:ln/>
        </p:spPr>
        <p:txBody>
          <a:bodyPr wrap="square" lIns="0" tIns="0" rIns="0" bIns="0" rtlCol="0" anchor="ctr"/>
          <a:lstStyle/>
          <a:p>
            <a:pPr algn="ctr" indent="0" marL="0">
              <a:buNone/>
            </a:pPr>
            <a:r>
              <a:rPr lang="en-US" sz="2200" b="1" dirty="0">
                <a:solidFill>
                  <a:srgbClr val="3B6CB4"/>
                </a:solidFill>
                <a:latin typeface="Georgia" pitchFamily="34" charset="0"/>
                <a:ea typeface="Georgia" pitchFamily="34" charset="-122"/>
                <a:cs typeface="Georgia" pitchFamily="34" charset="-120"/>
              </a:rPr>
              <a:t>99.63%</a:t>
            </a:r>
            <a:endParaRPr lang="en-US" sz="2200" dirty="0"/>
          </a:p>
        </p:txBody>
      </p:sp>
      <p:sp>
        <p:nvSpPr>
          <p:cNvPr id="11" name="Text 9"/>
          <p:cNvSpPr/>
          <p:nvPr/>
        </p:nvSpPr>
        <p:spPr>
          <a:xfrm>
            <a:off x="6149340" y="2743200"/>
            <a:ext cx="2423160" cy="320040"/>
          </a:xfrm>
          <a:prstGeom prst="rect">
            <a:avLst/>
          </a:prstGeom>
          <a:noFill/>
          <a:ln/>
        </p:spPr>
        <p:txBody>
          <a:bodyPr wrap="square" lIns="0" tIns="0" rIns="0" bIns="0" rtlCol="0" anchor="ctr"/>
          <a:lstStyle/>
          <a:p>
            <a:pPr rtl="1" algn="ctr" indent="0" marL="0">
              <a:buNone/>
            </a:pPr>
            <a:r>
              <a:rPr lang="ar-SA" altLang="en-US" sz="900" dirty="0">
                <a:solidFill>
                  <a:srgbClr val="64748B"/>
                </a:solidFill>
                <a:latin typeface="Calibri" pitchFamily="34" charset="0"/>
                <a:ea typeface="Calibri" pitchFamily="34" charset="-122"/>
                <a:cs typeface="Calibri" pitchFamily="34" charset="-120"/>
              </a:rPr>
              <a:t>دقة على قاعدة LFW</a:t>
            </a:r>
            <a:endParaRPr lang="ar-SA" sz="900" dirty="0"/>
          </a:p>
        </p:txBody>
      </p:sp>
      <p:sp>
        <p:nvSpPr>
          <p:cNvPr id="12" name="Text 10"/>
          <p:cNvSpPr/>
          <p:nvPr/>
        </p:nvSpPr>
        <p:spPr>
          <a:xfrm>
            <a:off x="6240780" y="3154680"/>
            <a:ext cx="2240280" cy="1371600"/>
          </a:xfrm>
          <a:prstGeom prst="rect">
            <a:avLst/>
          </a:prstGeom>
          <a:noFill/>
          <a:ln/>
        </p:spPr>
        <p:txBody>
          <a:bodyPr wrap="square" rtlCol="0" anchor="ctr"/>
          <a:lstStyle/>
          <a:p>
            <a:pPr rtl="1" algn="ctr" indent="0" marL="0">
              <a:lnSpc>
                <a:spcPct val="120000"/>
              </a:lnSpc>
              <a:buNone/>
            </a:pPr>
            <a:r>
              <a:rPr lang="ar-SA" altLang="en-US" sz="1050" dirty="0">
                <a:solidFill>
                  <a:srgbClr val="334155"/>
                </a:solidFill>
                <a:latin typeface="Calibri" pitchFamily="34" charset="0"/>
                <a:ea typeface="Calibri" pitchFamily="34" charset="-122"/>
                <a:cs typeface="Calibri" pitchFamily="34" charset="-120"/>
              </a:rPr>
              <a:t>تحويل صورة الوجه إلى تمثيل رقمي (Embedding) باستخدام Triplet Loss لتقريب صور نفس الشخص وإبعاد المختلفين</a:t>
            </a:r>
            <a:endParaRPr lang="ar-SA" sz="1050" dirty="0"/>
          </a:p>
        </p:txBody>
      </p:sp>
      <p:sp>
        <p:nvSpPr>
          <p:cNvPr id="13" name="Shape 11"/>
          <p:cNvSpPr/>
          <p:nvPr/>
        </p:nvSpPr>
        <p:spPr>
          <a:xfrm>
            <a:off x="3268980" y="1051560"/>
            <a:ext cx="2606040" cy="36576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4" name="Shape 12"/>
          <p:cNvSpPr/>
          <p:nvPr/>
        </p:nvSpPr>
        <p:spPr>
          <a:xfrm>
            <a:off x="3268980" y="1051560"/>
            <a:ext cx="2606040" cy="54864"/>
          </a:xfrm>
          <a:prstGeom prst="rect">
            <a:avLst/>
          </a:prstGeom>
          <a:solidFill>
            <a:srgbClr val="2C3E6B"/>
          </a:solidFill>
          <a:ln/>
        </p:spPr>
      </p:sp>
      <p:sp>
        <p:nvSpPr>
          <p:cNvPr id="15" name="Text 13"/>
          <p:cNvSpPr/>
          <p:nvPr/>
        </p:nvSpPr>
        <p:spPr>
          <a:xfrm>
            <a:off x="3268980" y="1234440"/>
            <a:ext cx="2606040" cy="457200"/>
          </a:xfrm>
          <a:prstGeom prst="rect">
            <a:avLst/>
          </a:prstGeom>
          <a:noFill/>
          <a:ln/>
        </p:spPr>
        <p:txBody>
          <a:bodyPr wrap="square" lIns="0" tIns="0" rIns="0" bIns="0" rtlCol="0" anchor="ctr"/>
          <a:lstStyle/>
          <a:p>
            <a:pPr algn="ctr" indent="0" marL="0">
              <a:buNone/>
            </a:pPr>
            <a:r>
              <a:rPr lang="en-US" sz="2200" b="1" dirty="0">
                <a:solidFill>
                  <a:srgbClr val="1A2332"/>
                </a:solidFill>
                <a:latin typeface="Georgia" pitchFamily="34" charset="0"/>
                <a:ea typeface="Georgia" pitchFamily="34" charset="-122"/>
                <a:cs typeface="Georgia" pitchFamily="34" charset="-120"/>
              </a:rPr>
              <a:t>ArcFace</a:t>
            </a:r>
            <a:endParaRPr lang="en-US" sz="2200" dirty="0"/>
          </a:p>
        </p:txBody>
      </p:sp>
      <p:sp>
        <p:nvSpPr>
          <p:cNvPr id="16" name="Text 14"/>
          <p:cNvSpPr/>
          <p:nvPr/>
        </p:nvSpPr>
        <p:spPr>
          <a:xfrm>
            <a:off x="3268980" y="1645920"/>
            <a:ext cx="2606040" cy="32004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Deng et al, 2019</a:t>
            </a:r>
            <a:endParaRPr lang="en-US" sz="1000" dirty="0"/>
          </a:p>
        </p:txBody>
      </p:sp>
      <p:sp>
        <p:nvSpPr>
          <p:cNvPr id="17" name="Shape 15"/>
          <p:cNvSpPr/>
          <p:nvPr/>
        </p:nvSpPr>
        <p:spPr>
          <a:xfrm>
            <a:off x="3749040" y="2057400"/>
            <a:ext cx="1645920" cy="640080"/>
          </a:xfrm>
          <a:prstGeom prst="rect">
            <a:avLst/>
          </a:prstGeom>
          <a:solidFill>
            <a:srgbClr val="2C3E6B">
              <a:alpha val="10000"/>
            </a:srgbClr>
          </a:solidFill>
          <a:ln/>
        </p:spPr>
      </p:sp>
      <p:sp>
        <p:nvSpPr>
          <p:cNvPr id="18" name="Text 16"/>
          <p:cNvSpPr/>
          <p:nvPr/>
        </p:nvSpPr>
        <p:spPr>
          <a:xfrm>
            <a:off x="3268980" y="2057400"/>
            <a:ext cx="2606040" cy="640080"/>
          </a:xfrm>
          <a:prstGeom prst="rect">
            <a:avLst/>
          </a:prstGeom>
          <a:noFill/>
          <a:ln/>
        </p:spPr>
        <p:txBody>
          <a:bodyPr wrap="square" lIns="0" tIns="0" rIns="0" bIns="0" rtlCol="0" anchor="ctr"/>
          <a:lstStyle/>
          <a:p>
            <a:pPr algn="ctr" indent="0" marL="0">
              <a:buNone/>
            </a:pPr>
            <a:r>
              <a:rPr lang="en-US" sz="2200" b="1" dirty="0">
                <a:solidFill>
                  <a:srgbClr val="2C3E6B"/>
                </a:solidFill>
                <a:latin typeface="Georgia" pitchFamily="34" charset="0"/>
                <a:ea typeface="Georgia" pitchFamily="34" charset="-122"/>
                <a:cs typeface="Georgia" pitchFamily="34" charset="-120"/>
              </a:rPr>
              <a:t>99.83%</a:t>
            </a:r>
            <a:endParaRPr lang="en-US" sz="2200" dirty="0"/>
          </a:p>
        </p:txBody>
      </p:sp>
      <p:sp>
        <p:nvSpPr>
          <p:cNvPr id="19" name="Text 17"/>
          <p:cNvSpPr/>
          <p:nvPr/>
        </p:nvSpPr>
        <p:spPr>
          <a:xfrm>
            <a:off x="3360420" y="2743200"/>
            <a:ext cx="2423160" cy="320040"/>
          </a:xfrm>
          <a:prstGeom prst="rect">
            <a:avLst/>
          </a:prstGeom>
          <a:noFill/>
          <a:ln/>
        </p:spPr>
        <p:txBody>
          <a:bodyPr wrap="square" lIns="0" tIns="0" rIns="0" bIns="0" rtlCol="0" anchor="ctr"/>
          <a:lstStyle/>
          <a:p>
            <a:pPr rtl="1" algn="ctr" indent="0" marL="0">
              <a:buNone/>
            </a:pPr>
            <a:r>
              <a:rPr lang="ar-SA" altLang="en-US" sz="900" dirty="0">
                <a:solidFill>
                  <a:srgbClr val="64748B"/>
                </a:solidFill>
                <a:latin typeface="Calibri" pitchFamily="34" charset="0"/>
                <a:ea typeface="Calibri" pitchFamily="34" charset="-122"/>
                <a:cs typeface="Calibri" pitchFamily="34" charset="-120"/>
              </a:rPr>
              <a:t>دقة على قاعدة LFW</a:t>
            </a:r>
            <a:endParaRPr lang="ar-SA" sz="900" dirty="0"/>
          </a:p>
        </p:txBody>
      </p:sp>
      <p:sp>
        <p:nvSpPr>
          <p:cNvPr id="20" name="Text 18"/>
          <p:cNvSpPr/>
          <p:nvPr/>
        </p:nvSpPr>
        <p:spPr>
          <a:xfrm>
            <a:off x="3451860" y="3154680"/>
            <a:ext cx="2240280" cy="1371600"/>
          </a:xfrm>
          <a:prstGeom prst="rect">
            <a:avLst/>
          </a:prstGeom>
          <a:noFill/>
          <a:ln/>
        </p:spPr>
        <p:txBody>
          <a:bodyPr wrap="square" rtlCol="0" anchor="ctr"/>
          <a:lstStyle/>
          <a:p>
            <a:pPr rtl="1" algn="ctr" indent="0" marL="0">
              <a:lnSpc>
                <a:spcPct val="120000"/>
              </a:lnSpc>
              <a:buNone/>
            </a:pPr>
            <a:r>
              <a:rPr lang="ar-SA" altLang="en-US" sz="1050" dirty="0">
                <a:solidFill>
                  <a:srgbClr val="334155"/>
                </a:solidFill>
                <a:latin typeface="Calibri" pitchFamily="34" charset="0"/>
                <a:ea typeface="Calibri" pitchFamily="34" charset="-122"/>
                <a:cs typeface="Calibri" pitchFamily="34" charset="-120"/>
              </a:rPr>
              <a:t>تعزيز الفصل الزاوي بين تمثيلات الوجوه باستخدام Angular Margin Loss لزيادة التباعد بين الفئات</a:t>
            </a:r>
            <a:endParaRPr lang="ar-SA" sz="1050" dirty="0"/>
          </a:p>
        </p:txBody>
      </p:sp>
      <p:sp>
        <p:nvSpPr>
          <p:cNvPr id="21" name="Shape 19"/>
          <p:cNvSpPr/>
          <p:nvPr/>
        </p:nvSpPr>
        <p:spPr>
          <a:xfrm>
            <a:off x="480060" y="1051560"/>
            <a:ext cx="2606040" cy="365760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22" name="Shape 20"/>
          <p:cNvSpPr/>
          <p:nvPr/>
        </p:nvSpPr>
        <p:spPr>
          <a:xfrm>
            <a:off x="480060" y="1051560"/>
            <a:ext cx="2606040" cy="54864"/>
          </a:xfrm>
          <a:prstGeom prst="rect">
            <a:avLst/>
          </a:prstGeom>
          <a:solidFill>
            <a:srgbClr val="0EA5E9"/>
          </a:solidFill>
          <a:ln/>
        </p:spPr>
      </p:sp>
      <p:sp>
        <p:nvSpPr>
          <p:cNvPr id="23" name="Text 21"/>
          <p:cNvSpPr/>
          <p:nvPr/>
        </p:nvSpPr>
        <p:spPr>
          <a:xfrm>
            <a:off x="480060" y="1234440"/>
            <a:ext cx="2606040" cy="457200"/>
          </a:xfrm>
          <a:prstGeom prst="rect">
            <a:avLst/>
          </a:prstGeom>
          <a:noFill/>
          <a:ln/>
        </p:spPr>
        <p:txBody>
          <a:bodyPr wrap="square" lIns="0" tIns="0" rIns="0" bIns="0" rtlCol="0" anchor="ctr"/>
          <a:lstStyle/>
          <a:p>
            <a:pPr algn="ctr" indent="0" marL="0">
              <a:buNone/>
            </a:pPr>
            <a:r>
              <a:rPr lang="en-US" sz="2200" b="1" dirty="0">
                <a:solidFill>
                  <a:srgbClr val="1A2332"/>
                </a:solidFill>
                <a:latin typeface="Georgia" pitchFamily="34" charset="0"/>
                <a:ea typeface="Georgia" pitchFamily="34" charset="-122"/>
                <a:cs typeface="Georgia" pitchFamily="34" charset="-120"/>
              </a:rPr>
              <a:t>YOLO</a:t>
            </a:r>
            <a:endParaRPr lang="en-US" sz="2200" dirty="0"/>
          </a:p>
        </p:txBody>
      </p:sp>
      <p:sp>
        <p:nvSpPr>
          <p:cNvPr id="24" name="Text 22"/>
          <p:cNvSpPr/>
          <p:nvPr/>
        </p:nvSpPr>
        <p:spPr>
          <a:xfrm>
            <a:off x="480060" y="1645920"/>
            <a:ext cx="2606040" cy="32004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Redmon et al, 2016</a:t>
            </a:r>
            <a:endParaRPr lang="en-US" sz="1000" dirty="0"/>
          </a:p>
        </p:txBody>
      </p:sp>
      <p:sp>
        <p:nvSpPr>
          <p:cNvPr id="25" name="Shape 23"/>
          <p:cNvSpPr/>
          <p:nvPr/>
        </p:nvSpPr>
        <p:spPr>
          <a:xfrm>
            <a:off x="960120" y="2057400"/>
            <a:ext cx="1645920" cy="640080"/>
          </a:xfrm>
          <a:prstGeom prst="rect">
            <a:avLst/>
          </a:prstGeom>
          <a:solidFill>
            <a:srgbClr val="0EA5E9">
              <a:alpha val="10000"/>
            </a:srgbClr>
          </a:solidFill>
          <a:ln/>
        </p:spPr>
      </p:sp>
      <p:sp>
        <p:nvSpPr>
          <p:cNvPr id="26" name="Text 24"/>
          <p:cNvSpPr/>
          <p:nvPr/>
        </p:nvSpPr>
        <p:spPr>
          <a:xfrm>
            <a:off x="480060" y="2057400"/>
            <a:ext cx="2606040" cy="640080"/>
          </a:xfrm>
          <a:prstGeom prst="rect">
            <a:avLst/>
          </a:prstGeom>
          <a:noFill/>
          <a:ln/>
        </p:spPr>
        <p:txBody>
          <a:bodyPr wrap="square" lIns="0" tIns="0" rIns="0" bIns="0" rtlCol="0" anchor="ctr"/>
          <a:lstStyle/>
          <a:p>
            <a:pPr algn="ctr" indent="0" marL="0">
              <a:buNone/>
            </a:pPr>
            <a:r>
              <a:rPr lang="en-US" sz="2200" b="1" dirty="0">
                <a:solidFill>
                  <a:srgbClr val="0EA5E9"/>
                </a:solidFill>
                <a:latin typeface="Georgia" pitchFamily="34" charset="0"/>
                <a:ea typeface="Georgia" pitchFamily="34" charset="-122"/>
                <a:cs typeface="Georgia" pitchFamily="34" charset="-120"/>
              </a:rPr>
              <a:t>Real-time</a:t>
            </a:r>
            <a:endParaRPr lang="en-US" sz="2200" dirty="0"/>
          </a:p>
        </p:txBody>
      </p:sp>
      <p:sp>
        <p:nvSpPr>
          <p:cNvPr id="27" name="Text 25"/>
          <p:cNvSpPr/>
          <p:nvPr/>
        </p:nvSpPr>
        <p:spPr>
          <a:xfrm>
            <a:off x="571500" y="2743200"/>
            <a:ext cx="2423160" cy="320040"/>
          </a:xfrm>
          <a:prstGeom prst="rect">
            <a:avLst/>
          </a:prstGeom>
          <a:noFill/>
          <a:ln/>
        </p:spPr>
        <p:txBody>
          <a:bodyPr wrap="square" lIns="0" tIns="0" rIns="0" bIns="0" rtlCol="0" anchor="ctr"/>
          <a:lstStyle/>
          <a:p>
            <a:pPr rtl="1" algn="ctr" indent="0" marL="0">
              <a:buNone/>
            </a:pPr>
            <a:r>
              <a:rPr lang="ar-SA" altLang="en-US" sz="900" dirty="0">
                <a:solidFill>
                  <a:srgbClr val="64748B"/>
                </a:solidFill>
                <a:latin typeface="Calibri" pitchFamily="34" charset="0"/>
                <a:ea typeface="Calibri" pitchFamily="34" charset="-122"/>
                <a:cs typeface="Calibri" pitchFamily="34" charset="-120"/>
              </a:rPr>
              <a:t>كشف الأشخاص بالزمن الحقيقي</a:t>
            </a:r>
            <a:endParaRPr lang="ar-SA" sz="900" dirty="0"/>
          </a:p>
        </p:txBody>
      </p:sp>
      <p:sp>
        <p:nvSpPr>
          <p:cNvPr id="28" name="Text 26"/>
          <p:cNvSpPr/>
          <p:nvPr/>
        </p:nvSpPr>
        <p:spPr>
          <a:xfrm>
            <a:off x="662940" y="3154680"/>
            <a:ext cx="2240280" cy="1371600"/>
          </a:xfrm>
          <a:prstGeom prst="rect">
            <a:avLst/>
          </a:prstGeom>
          <a:noFill/>
          <a:ln/>
        </p:spPr>
        <p:txBody>
          <a:bodyPr wrap="square" rtlCol="0" anchor="ctr"/>
          <a:lstStyle/>
          <a:p>
            <a:pPr rtl="1" algn="ctr" indent="0" marL="0">
              <a:lnSpc>
                <a:spcPct val="120000"/>
              </a:lnSpc>
              <a:buNone/>
            </a:pPr>
            <a:r>
              <a:rPr lang="ar-SA" altLang="en-US" sz="1050" dirty="0">
                <a:solidFill>
                  <a:srgbClr val="334155"/>
                </a:solidFill>
                <a:latin typeface="Calibri" pitchFamily="34" charset="0"/>
                <a:ea typeface="Calibri" pitchFamily="34" charset="-122"/>
                <a:cs typeface="Calibri" pitchFamily="34" charset="-120"/>
              </a:rPr>
              <a:t>كشف الأشخاص من إطارات الكاميرات بدقة وسرعة عالية ثم تمرير المواقع إلى خوارزميات التتبع</a:t>
            </a:r>
            <a:endParaRPr lang="ar-SA" sz="1050" dirty="0"/>
          </a:p>
        </p:txBody>
      </p:sp>
      <p:sp>
        <p:nvSpPr>
          <p:cNvPr id="29" name="Shape 27"/>
          <p:cNvSpPr/>
          <p:nvPr/>
        </p:nvSpPr>
        <p:spPr>
          <a:xfrm>
            <a:off x="0" y="4892040"/>
            <a:ext cx="9144000" cy="256032"/>
          </a:xfrm>
          <a:prstGeom prst="rect">
            <a:avLst/>
          </a:prstGeom>
          <a:solidFill>
            <a:srgbClr val="1A2332"/>
          </a:solidFill>
          <a:ln/>
        </p:spPr>
      </p:sp>
      <p:sp>
        <p:nvSpPr>
          <p:cNvPr id="30" name="Text 28"/>
          <p:cNvSpPr/>
          <p:nvPr/>
        </p:nvSpPr>
        <p:spPr>
          <a:xfrm>
            <a:off x="8046720" y="4892040"/>
            <a:ext cx="731520" cy="256032"/>
          </a:xfrm>
          <a:prstGeom prst="rect">
            <a:avLst/>
          </a:prstGeom>
          <a:noFill/>
          <a:ln/>
        </p:spPr>
        <p:txBody>
          <a:bodyPr wrap="square" rtlCol="0" anchor="ctr"/>
          <a:lstStyle/>
          <a:p>
            <a:pPr algn="ctr" indent="0" marL="0">
              <a:buNone/>
            </a:pPr>
            <a:r>
              <a:rPr lang="en-US" sz="1000" dirty="0">
                <a:solidFill>
                  <a:srgbClr val="6B9FD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457200" y="3200400"/>
            <a:ext cx="2743200" cy="2743200"/>
          </a:xfrm>
          <a:prstGeom prst="ellipse">
            <a:avLst/>
          </a:prstGeom>
          <a:solidFill>
            <a:srgbClr val="2C3E6B">
              <a:alpha val="60000"/>
            </a:srgbClr>
          </a:solidFill>
          <a:ln/>
        </p:spPr>
      </p:sp>
      <p:sp>
        <p:nvSpPr>
          <p:cNvPr id="4" name="Shape 2"/>
          <p:cNvSpPr/>
          <p:nvPr/>
        </p:nvSpPr>
        <p:spPr>
          <a:xfrm>
            <a:off x="6858000" y="-457200"/>
            <a:ext cx="3200400" cy="3200400"/>
          </a:xfrm>
          <a:prstGeom prst="ellipse">
            <a:avLst/>
          </a:prstGeom>
          <a:solidFill>
            <a:srgbClr val="2C3E6B">
              <a:alpha val="60000"/>
            </a:srgbClr>
          </a:solidFill>
          <a:ln/>
        </p:spPr>
      </p:sp>
      <p:sp>
        <p:nvSpPr>
          <p:cNvPr id="5" name="Text 3"/>
          <p:cNvSpPr/>
          <p:nvPr/>
        </p:nvSpPr>
        <p:spPr>
          <a:xfrm>
            <a:off x="914400" y="1371600"/>
            <a:ext cx="7315200" cy="1097280"/>
          </a:xfrm>
          <a:prstGeom prst="rect">
            <a:avLst/>
          </a:prstGeom>
          <a:noFill/>
          <a:ln/>
        </p:spPr>
        <p:txBody>
          <a:bodyPr wrap="square" rtlCol="0" anchor="ctr"/>
          <a:lstStyle/>
          <a:p>
            <a:pPr rtl="1" algn="ctr" indent="0" marL="0">
              <a:buNone/>
            </a:pPr>
            <a:r>
              <a:rPr lang="ar-SA" altLang="en-US" sz="4400" b="1" dirty="0">
                <a:solidFill>
                  <a:srgbClr val="FFFFFF"/>
                </a:solidFill>
                <a:latin typeface="Georgia" pitchFamily="34" charset="0"/>
                <a:ea typeface="Georgia" pitchFamily="34" charset="-122"/>
                <a:cs typeface="Georgia" pitchFamily="34" charset="-120"/>
              </a:rPr>
              <a:t>شكراً لاستماعكم</a:t>
            </a:r>
            <a:endParaRPr lang="ar-SA" sz="4400" dirty="0"/>
          </a:p>
        </p:txBody>
      </p:sp>
      <p:sp>
        <p:nvSpPr>
          <p:cNvPr id="6" name="Shape 4"/>
          <p:cNvSpPr/>
          <p:nvPr/>
        </p:nvSpPr>
        <p:spPr>
          <a:xfrm>
            <a:off x="3657600" y="2651760"/>
            <a:ext cx="1828800" cy="36576"/>
          </a:xfrm>
          <a:prstGeom prst="rect">
            <a:avLst/>
          </a:prstGeom>
          <a:solidFill>
            <a:srgbClr val="0EA5E9"/>
          </a:solidFill>
          <a:ln/>
        </p:spPr>
      </p:sp>
      <p:sp>
        <p:nvSpPr>
          <p:cNvPr id="7" name="Text 5"/>
          <p:cNvSpPr/>
          <p:nvPr/>
        </p:nvSpPr>
        <p:spPr>
          <a:xfrm>
            <a:off x="1371600" y="2926080"/>
            <a:ext cx="6400800" cy="548640"/>
          </a:xfrm>
          <a:prstGeom prst="rect">
            <a:avLst/>
          </a:prstGeom>
          <a:noFill/>
          <a:ln/>
        </p:spPr>
        <p:txBody>
          <a:bodyPr wrap="square" rtlCol="0" anchor="ctr"/>
          <a:lstStyle/>
          <a:p>
            <a:pPr rtl="1" algn="ctr" indent="0" marL="0">
              <a:buNone/>
            </a:pPr>
            <a:r>
              <a:rPr lang="ar-SA" altLang="en-US" sz="1400" dirty="0">
                <a:solidFill>
                  <a:srgbClr val="6B9FD4"/>
                </a:solidFill>
                <a:latin typeface="Calibri" pitchFamily="34" charset="0"/>
                <a:ea typeface="Calibri" pitchFamily="34" charset="-122"/>
                <a:cs typeface="Calibri" pitchFamily="34" charset="-120"/>
              </a:rPr>
              <a:t>نظام مراقبة الموظفين - تسجيل الحضور بالتعرف على الوجه وتتبع نشاطات الموظفين</a:t>
            </a:r>
            <a:endParaRPr lang="ar-SA" sz="1400" dirty="0"/>
          </a:p>
        </p:txBody>
      </p:sp>
      <p:sp>
        <p:nvSpPr>
          <p:cNvPr id="8" name="Text 6"/>
          <p:cNvSpPr/>
          <p:nvPr/>
        </p:nvSpPr>
        <p:spPr>
          <a:xfrm>
            <a:off x="1371600" y="3840480"/>
            <a:ext cx="6400800" cy="457200"/>
          </a:xfrm>
          <a:prstGeom prst="rect">
            <a:avLst/>
          </a:prstGeom>
          <a:noFill/>
          <a:ln/>
        </p:spPr>
        <p:txBody>
          <a:bodyPr wrap="square" rtlCol="0" anchor="ctr"/>
          <a:lstStyle/>
          <a:p>
            <a:pPr rtl="1" algn="ctr" indent="0" marL="0">
              <a:buNone/>
            </a:pPr>
            <a:r>
              <a:rPr lang="ar-SA" altLang="en-US" sz="1200" dirty="0">
                <a:solidFill>
                  <a:srgbClr val="94A3B8"/>
                </a:solidFill>
                <a:latin typeface="Calibri" pitchFamily="34" charset="0"/>
                <a:ea typeface="Calibri" pitchFamily="34" charset="-122"/>
                <a:cs typeface="Calibri" pitchFamily="34" charset="-120"/>
              </a:rPr>
              <a:t>جامعة دمشق  |  كلية الهندسة المعلوماتية  |  2026</a:t>
            </a:r>
            <a:endParaRPr lang="ar-SA" sz="1200" dirty="0"/>
          </a:p>
        </p:txBody>
      </p:sp>
      <p:sp>
        <p:nvSpPr>
          <p:cNvPr id="9" name="Shape 7"/>
          <p:cNvSpPr/>
          <p:nvPr/>
        </p:nvSpPr>
        <p:spPr>
          <a:xfrm>
            <a:off x="0" y="4892040"/>
            <a:ext cx="9144000" cy="256032"/>
          </a:xfrm>
          <a:prstGeom prst="rect">
            <a:avLst/>
          </a:prstGeom>
          <a:solidFill>
            <a:srgbClr val="2C3E6B"/>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مراقبة الموظفين</dc:title>
  <dc:subject>PptxGenJS Presentation</dc:subject>
  <dc:creator>Omar Al-Kheirat</dc:creator>
  <cp:lastModifiedBy>Omar Al-Kheirat</cp:lastModifiedBy>
  <cp:revision>1</cp:revision>
  <dcterms:created xsi:type="dcterms:W3CDTF">2026-04-11T05:50:59Z</dcterms:created>
  <dcterms:modified xsi:type="dcterms:W3CDTF">2026-04-11T05:50:59Z</dcterms:modified>
</cp:coreProperties>
</file>